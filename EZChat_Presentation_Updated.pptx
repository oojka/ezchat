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5" r:id="rId3"/>
    <p:sldId id="267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03"/>
    <p:restoredTop sz="94716"/>
  </p:normalViewPr>
  <p:slideViewPr>
    <p:cSldViewPr snapToGrid="0">
      <p:cViewPr varScale="1">
        <p:scale>
          <a:sx n="146" d="100"/>
          <a:sy n="146" d="100"/>
        </p:scale>
        <p:origin x="9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8791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1730">
              <a:alpha val="85000"/>
            </a:srgbClr>
          </a:solidFill>
          <a:ln w="12700">
            <a:solidFill>
              <a:srgbClr val="0F173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/mnt/data/android-chrome-192x1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4796" y="1247183"/>
            <a:ext cx="1634195" cy="1645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371287" y="1321987"/>
            <a:ext cx="4425449" cy="966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 err="1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EZChat</a:t>
            </a:r>
            <a:r>
              <a:rPr lang="en-US" sz="4400" b="1" dirty="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</a:t>
            </a:r>
          </a:p>
          <a:p>
            <a:pPr marL="0" indent="0">
              <a:buNone/>
            </a:pPr>
            <a:r>
              <a:rPr lang="en-US" sz="2400" b="1" dirty="0" err="1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リアルタイムチャットアプリ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3447487" y="2464987"/>
            <a:ext cx="7612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zh-CN" sz="1800">
                <a:solidFill>
                  <a:srgbClr val="B9C6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Spring</a:t>
            </a:r>
            <a:r>
              <a:rPr lang="zh-CN" altLang="en-US" sz="1800">
                <a:solidFill>
                  <a:srgbClr val="B9C6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</a:t>
            </a:r>
            <a:r>
              <a:rPr lang="en-US" altLang="zh-CN" sz="1800">
                <a:solidFill>
                  <a:srgbClr val="B9C6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Boot 3 / Vue 3 / </a:t>
            </a:r>
            <a:r>
              <a:rPr lang="en-US" sz="1800">
                <a:solidFill>
                  <a:srgbClr val="B9C6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WebSocket / Dual Token / OSS（MinIO/S3</a:t>
            </a:r>
            <a:r>
              <a:rPr lang="zh-CN" altLang="en-US">
                <a:solidFill>
                  <a:srgbClr val="B9C6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）</a:t>
            </a:r>
            <a:endParaRPr lang="en-US" sz="180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76F47D5E-D0FD-0116-7D16-5B23698BBA4E}"/>
              </a:ext>
            </a:extLst>
          </p:cNvPr>
          <p:cNvSpPr/>
          <p:nvPr/>
        </p:nvSpPr>
        <p:spPr>
          <a:xfrm>
            <a:off x="914400" y="3933872"/>
            <a:ext cx="3200400" cy="2318816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A3A61"/>
            </a:solidFill>
            <a:prstDash val="solid"/>
          </a:ln>
          <a:effectLst>
            <a:outerShdw blurRad="50800" dist="254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DD0186C1-9F27-6972-5D3A-23A6B30B63BF}"/>
              </a:ext>
            </a:extLst>
          </p:cNvPr>
          <p:cNvSpPr/>
          <p:nvPr/>
        </p:nvSpPr>
        <p:spPr>
          <a:xfrm>
            <a:off x="1143000" y="4162472"/>
            <a:ext cx="1920240" cy="172585"/>
          </a:xfrm>
          <a:prstGeom prst="roundRect">
            <a:avLst/>
          </a:prstGeom>
          <a:solidFill>
            <a:srgbClr val="39C6E6"/>
          </a:solidFill>
          <a:ln w="12700">
            <a:solidFill>
              <a:srgbClr val="39C6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2BA0C7E3-F63C-5156-2B2A-414CD4DAE4A6}"/>
              </a:ext>
            </a:extLst>
          </p:cNvPr>
          <p:cNvSpPr/>
          <p:nvPr/>
        </p:nvSpPr>
        <p:spPr>
          <a:xfrm>
            <a:off x="1143000" y="4180760"/>
            <a:ext cx="1920240" cy="172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ja-JP" sz="11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ゲストモード</a:t>
            </a:r>
            <a:endParaRPr lang="en-US" sz="1100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95AF287D-CAB8-206C-0869-1AF92A7B9B4A}"/>
              </a:ext>
            </a:extLst>
          </p:cNvPr>
          <p:cNvSpPr/>
          <p:nvPr/>
        </p:nvSpPr>
        <p:spPr>
          <a:xfrm>
            <a:off x="1050000" y="4665392"/>
            <a:ext cx="3100000" cy="17795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ja-JP" sz="130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登録不要、即参加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ja-JP" sz="130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ルームIDまたは招待リンクで入室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ja-JP" sz="130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参加後、気に入れば正式アカウントへ昇格可能</a:t>
            </a:r>
          </a:p>
          <a:p>
            <a:pPr marL="0" indent="0">
              <a:spcBef>
                <a:spcPts val="800"/>
              </a:spcBef>
              <a:buNone/>
            </a:pPr>
            <a:r>
              <a:rPr lang="ja-JP" sz="1100" i="1">
                <a:solidFill>
                  <a:srgbClr val="7A8BB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シームレスな転換でコンテキストを維持</a:t>
            </a:r>
          </a:p>
        </p:txBody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CB9A398E-E7C8-7BDD-29B3-F0AED279C1CD}"/>
              </a:ext>
            </a:extLst>
          </p:cNvPr>
          <p:cNvSpPr/>
          <p:nvPr/>
        </p:nvSpPr>
        <p:spPr>
          <a:xfrm>
            <a:off x="4343400" y="3933872"/>
            <a:ext cx="3200400" cy="2318816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A3A61"/>
            </a:solidFill>
            <a:prstDash val="solid"/>
          </a:ln>
          <a:effectLst>
            <a:outerShdw blurRad="50800" dist="254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1F698B0E-2678-2808-D5D4-A8B5CF19C239}"/>
              </a:ext>
            </a:extLst>
          </p:cNvPr>
          <p:cNvSpPr/>
          <p:nvPr/>
        </p:nvSpPr>
        <p:spPr>
          <a:xfrm>
            <a:off x="4572000" y="4162472"/>
            <a:ext cx="1920240" cy="172585"/>
          </a:xfrm>
          <a:prstGeom prst="round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59F241AE-43A0-411A-75F1-485CDE81369F}"/>
              </a:ext>
            </a:extLst>
          </p:cNvPr>
          <p:cNvSpPr/>
          <p:nvPr/>
        </p:nvSpPr>
        <p:spPr>
          <a:xfrm>
            <a:off x="4572000" y="4180760"/>
            <a:ext cx="1920240" cy="172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ja-JP" sz="1100" b="1">
                <a:solidFill>
                  <a:srgbClr val="1A1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多言語対応（i18n）</a:t>
            </a:r>
            <a:endParaRPr lang="en-US" sz="1100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982DD9CF-20DD-060E-2D05-FFD01E66A79A}"/>
              </a:ext>
            </a:extLst>
          </p:cNvPr>
          <p:cNvSpPr/>
          <p:nvPr/>
        </p:nvSpPr>
        <p:spPr>
          <a:xfrm>
            <a:off x="4465515" y="4665392"/>
            <a:ext cx="3100000" cy="17795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ja-JP" sz="130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日本語 </a:t>
            </a:r>
            <a:r>
              <a:rPr lang="ja-JP" altLang="zh-CN" sz="130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/ 英語</a:t>
            </a:r>
            <a:r>
              <a:rPr lang="zh-CN" altLang="en-US" sz="1300" dirty="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</a:t>
            </a:r>
            <a:r>
              <a:rPr lang="ja-JP" sz="130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/ 中国語 / 韓国語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ja-JP" sz="130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ログイン画面・メイン画面で即時切替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ja-JP" sz="130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ブラウザ言語を自動検出</a:t>
            </a:r>
          </a:p>
          <a:p>
            <a:pPr marL="0" indent="0">
              <a:spcBef>
                <a:spcPts val="800"/>
              </a:spcBef>
              <a:buNone/>
            </a:pPr>
            <a:r>
              <a:rPr lang="ja-JP" sz="1100" i="1">
                <a:solidFill>
                  <a:srgbClr val="7A8BB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Vue I18n で実装</a:t>
            </a:r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5650A61E-6354-7F68-64A1-0BF7C66CED10}"/>
              </a:ext>
            </a:extLst>
          </p:cNvPr>
          <p:cNvSpPr/>
          <p:nvPr/>
        </p:nvSpPr>
        <p:spPr>
          <a:xfrm>
            <a:off x="7772400" y="3933872"/>
            <a:ext cx="3600000" cy="2318816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A3A61"/>
            </a:solidFill>
            <a:prstDash val="solid"/>
          </a:ln>
          <a:effectLst>
            <a:outerShdw blurRad="50800" dist="254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3">
            <a:extLst>
              <a:ext uri="{FF2B5EF4-FFF2-40B4-BE49-F238E27FC236}">
                <a16:creationId xmlns:a16="http://schemas.microsoft.com/office/drawing/2014/main" id="{6D785449-5BBE-9389-8F27-4179551F7830}"/>
              </a:ext>
            </a:extLst>
          </p:cNvPr>
          <p:cNvSpPr/>
          <p:nvPr/>
        </p:nvSpPr>
        <p:spPr>
          <a:xfrm>
            <a:off x="8001000" y="4162472"/>
            <a:ext cx="1920240" cy="172585"/>
          </a:xfrm>
          <a:prstGeom prst="round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151E945D-044E-9B37-C41C-C7F3DE5921F5}"/>
              </a:ext>
            </a:extLst>
          </p:cNvPr>
          <p:cNvSpPr/>
          <p:nvPr/>
        </p:nvSpPr>
        <p:spPr>
          <a:xfrm>
            <a:off x="8001000" y="4180760"/>
            <a:ext cx="1920240" cy="172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ja-JP" sz="11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ダークモード</a:t>
            </a:r>
            <a:endParaRPr lang="en-US" sz="1100"/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513CE380-AB0E-F9A3-3677-0FA29754DCA1}"/>
              </a:ext>
            </a:extLst>
          </p:cNvPr>
          <p:cNvSpPr/>
          <p:nvPr/>
        </p:nvSpPr>
        <p:spPr>
          <a:xfrm>
            <a:off x="7889244" y="4665392"/>
            <a:ext cx="3500000" cy="17795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ja-JP" sz="130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ライト/ダークテーマをワンクリック切替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ja-JP" sz="130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全コンポーネントがスムーズに適応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ja-JP" sz="130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目の疲れを軽減</a:t>
            </a:r>
          </a:p>
          <a:p>
            <a:pPr marL="0" indent="0">
              <a:spcBef>
                <a:spcPts val="800"/>
              </a:spcBef>
              <a:buNone/>
            </a:pPr>
            <a:r>
              <a:rPr lang="ja-JP" sz="1100" i="1">
                <a:solidFill>
                  <a:srgbClr val="7A8BB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CSS変数 + Element Plus テーマ</a:t>
            </a:r>
          </a:p>
        </p:txBody>
      </p:sp>
      <p:sp>
        <p:nvSpPr>
          <p:cNvPr id="22" name="Text 2">
            <a:extLst>
              <a:ext uri="{FF2B5EF4-FFF2-40B4-BE49-F238E27FC236}">
                <a16:creationId xmlns:a16="http://schemas.microsoft.com/office/drawing/2014/main" id="{AF2C9792-6FDE-A1AB-9990-0A2085631C15}"/>
              </a:ext>
            </a:extLst>
          </p:cNvPr>
          <p:cNvSpPr/>
          <p:nvPr/>
        </p:nvSpPr>
        <p:spPr>
          <a:xfrm>
            <a:off x="1006338" y="6545903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sz="1100">
                <a:solidFill>
                  <a:srgbClr val="B9C6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低い参加障壁と快適なユーザー体験を両立する設計思想</a:t>
            </a:r>
            <a:endParaRPr lang="en-US" sz="1100" dirty="0"/>
          </a:p>
        </p:txBody>
      </p:sp>
      <p:sp>
        <p:nvSpPr>
          <p:cNvPr id="23" name="Shape 18">
            <a:extLst>
              <a:ext uri="{FF2B5EF4-FFF2-40B4-BE49-F238E27FC236}">
                <a16:creationId xmlns:a16="http://schemas.microsoft.com/office/drawing/2014/main" id="{312765A2-BB32-5CC2-4D5B-91FD1A1A2AC9}"/>
              </a:ext>
            </a:extLst>
          </p:cNvPr>
          <p:cNvSpPr/>
          <p:nvPr/>
        </p:nvSpPr>
        <p:spPr>
          <a:xfrm>
            <a:off x="640080" y="6545936"/>
            <a:ext cx="10881360" cy="0"/>
          </a:xfrm>
          <a:prstGeom prst="line">
            <a:avLst/>
          </a:prstGeom>
          <a:noFill/>
          <a:ln w="12700">
            <a:solidFill>
              <a:srgbClr val="2A3A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1730">
              <a:alpha val="85000"/>
            </a:srgbClr>
          </a:solidFill>
          <a:ln w="12700">
            <a:solidFill>
              <a:srgbClr val="0F173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sz="2800" b="1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ユーザー体験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sz="1400">
                <a:solidFill>
                  <a:srgbClr val="B9C6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チャット機能からセキュリティまで、実装済みの機能一覧</a:t>
            </a:r>
            <a:endParaRPr lang="en-US" sz="1400"/>
          </a:p>
        </p:txBody>
      </p:sp>
      <p:pic>
        <p:nvPicPr>
          <p:cNvPr id="5" name="Image 0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228600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417320"/>
            <a:ext cx="10972800" cy="512064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A3A61"/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4"/>
          <p:cNvSpPr/>
          <p:nvPr/>
        </p:nvSpPr>
        <p:spPr>
          <a:xfrm>
            <a:off x="914400" y="1700000"/>
            <a:ext cx="5000000" cy="2100000"/>
          </a:xfrm>
          <a:prstGeom prst="roundRect">
            <a:avLst/>
          </a:prstGeom>
          <a:solidFill>
            <a:srgbClr val="111A2E"/>
          </a:solidFill>
          <a:ln w="12700">
            <a:solidFill>
              <a:schemeClr val="accent5">
                <a:lumMod val="60000"/>
                <a:lumOff val="40000"/>
              </a:schemeClr>
            </a:solidFill>
            <a:prstDash val="solid"/>
          </a:ln>
          <a:effectLst>
            <a:outerShdw blurRad="50800" dist="254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Shape 5"/>
          <p:cNvSpPr/>
          <p:nvPr/>
        </p:nvSpPr>
        <p:spPr>
          <a:xfrm>
            <a:off x="1143000" y="1900000"/>
            <a:ext cx="2100000" cy="320040"/>
          </a:xfrm>
          <a:prstGeom prst="roundRect">
            <a:avLst/>
          </a:prstGeom>
          <a:solidFill>
            <a:srgbClr val="39C6E6"/>
          </a:solidFill>
          <a:ln w="12700">
            <a:solidFill>
              <a:srgbClr val="39C6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1143000" y="1918288"/>
            <a:ext cx="210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ja-JP" sz="11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チャット機能</a:t>
            </a:r>
            <a:endParaRPr lang="en-US" sz="1100"/>
          </a:p>
        </p:txBody>
      </p:sp>
      <p:sp>
        <p:nvSpPr>
          <p:cNvPr id="10" name="Text 7"/>
          <p:cNvSpPr/>
          <p:nvPr/>
        </p:nvSpPr>
        <p:spPr>
          <a:xfrm>
            <a:off x="1050000" y="2350000"/>
            <a:ext cx="4700000" cy="13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ja-JP" sz="120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リアルタイムメッセージ送受信（WebSocket）</a:t>
            </a:r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ja-JP" sz="120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画像・スタンプ送信 / 履歴の無限スクロール</a:t>
            </a:r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ja-JP" sz="120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クロスルーム通知（他ルームからのプッシュ）</a:t>
            </a:r>
          </a:p>
        </p:txBody>
      </p:sp>
      <p:sp>
        <p:nvSpPr>
          <p:cNvPr id="11" name="Shape 8"/>
          <p:cNvSpPr/>
          <p:nvPr/>
        </p:nvSpPr>
        <p:spPr>
          <a:xfrm>
            <a:off x="6100000" y="1700000"/>
            <a:ext cx="5200000" cy="2100000"/>
          </a:xfrm>
          <a:prstGeom prst="roundRect">
            <a:avLst/>
          </a:prstGeom>
          <a:solidFill>
            <a:srgbClr val="111A2E"/>
          </a:solidFill>
          <a:ln w="12700">
            <a:solidFill>
              <a:schemeClr val="accent4"/>
            </a:solidFill>
            <a:prstDash val="solid"/>
          </a:ln>
          <a:effectLst>
            <a:outerShdw blurRad="50800" dist="254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9"/>
          <p:cNvSpPr/>
          <p:nvPr/>
        </p:nvSpPr>
        <p:spPr>
          <a:xfrm>
            <a:off x="6328600" y="1900000"/>
            <a:ext cx="2100000" cy="320040"/>
          </a:xfrm>
          <a:prstGeom prst="round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6328600" y="1918288"/>
            <a:ext cx="210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ja-JP" sz="1100" b="1">
                <a:solidFill>
                  <a:srgbClr val="1A1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ルーム管理</a:t>
            </a:r>
            <a:endParaRPr lang="en-US" sz="1100"/>
          </a:p>
        </p:txBody>
      </p:sp>
      <p:sp>
        <p:nvSpPr>
          <p:cNvPr id="14" name="Text 11"/>
          <p:cNvSpPr/>
          <p:nvPr/>
        </p:nvSpPr>
        <p:spPr>
          <a:xfrm>
            <a:off x="6200000" y="2350000"/>
            <a:ext cx="4900000" cy="13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ja-JP" sz="120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パスワード付きルーム作成</a:t>
            </a:r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ja-JP" sz="120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招待リンク（有効期限: 1日/7日/30日</a:t>
            </a:r>
            <a:r>
              <a:rPr lang="en-US" altLang="ja-JP" sz="1200" dirty="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/</a:t>
            </a:r>
            <a:r>
              <a:rPr lang="zh-CN" altLang="en-US" sz="1200" dirty="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カスタマイズ</a:t>
            </a:r>
            <a:r>
              <a:rPr lang="ja-JP" sz="120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）</a:t>
            </a:r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ja-JP" sz="120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メンバーキック / リンク廃止・再生成</a:t>
            </a:r>
          </a:p>
        </p:txBody>
      </p:sp>
      <p:sp>
        <p:nvSpPr>
          <p:cNvPr id="15" name="Shape 12"/>
          <p:cNvSpPr>
            <a:spLocks/>
          </p:cNvSpPr>
          <p:nvPr/>
        </p:nvSpPr>
        <p:spPr>
          <a:xfrm>
            <a:off x="914400" y="3993545"/>
            <a:ext cx="5000000" cy="2098800"/>
          </a:xfrm>
          <a:prstGeom prst="roundRect">
            <a:avLst/>
          </a:prstGeom>
          <a:solidFill>
            <a:srgbClr val="162040"/>
          </a:solidFill>
          <a:ln w="19050">
            <a:solidFill>
              <a:srgbClr val="3DDC97"/>
            </a:solidFill>
            <a:prstDash val="solid"/>
          </a:ln>
          <a:effectLst>
            <a:outerShdw blurRad="50800" dist="25400" dir="2700000" algn="bl" rotWithShape="0">
              <a:srgbClr val="3DDC97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3"/>
          <p:cNvSpPr/>
          <p:nvPr/>
        </p:nvSpPr>
        <p:spPr>
          <a:xfrm>
            <a:off x="1143000" y="4193545"/>
            <a:ext cx="2700000" cy="320040"/>
          </a:xfrm>
          <a:prstGeom prst="round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4"/>
          <p:cNvSpPr/>
          <p:nvPr/>
        </p:nvSpPr>
        <p:spPr>
          <a:xfrm>
            <a:off x="1143000" y="4211833"/>
            <a:ext cx="270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ja-JP" sz="11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ゲスト転正（独自機能）</a:t>
            </a:r>
            <a:endParaRPr lang="en-US" sz="1100"/>
          </a:p>
        </p:txBody>
      </p:sp>
      <p:sp>
        <p:nvSpPr>
          <p:cNvPr id="18" name="Text 15"/>
          <p:cNvSpPr/>
          <p:nvPr/>
        </p:nvSpPr>
        <p:spPr>
          <a:xfrm>
            <a:off x="1050000" y="4600000"/>
            <a:ext cx="4700000" cy="16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ja-JP" sz="120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ルームを退出せずに正式アカウントへ昇格</a:t>
            </a:r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ja-JP" sz="120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会話コンテキストを維持したままシームレス転換</a:t>
            </a:r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ja-JP" sz="120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ユーザー離脱を防ぎ、コンバージョン率向上</a:t>
            </a:r>
          </a:p>
        </p:txBody>
      </p:sp>
      <p:sp>
        <p:nvSpPr>
          <p:cNvPr id="19" name="Shape 16"/>
          <p:cNvSpPr/>
          <p:nvPr/>
        </p:nvSpPr>
        <p:spPr>
          <a:xfrm>
            <a:off x="6100000" y="3993545"/>
            <a:ext cx="5200000" cy="2098800"/>
          </a:xfrm>
          <a:prstGeom prst="roundRect">
            <a:avLst/>
          </a:prstGeom>
          <a:solidFill>
            <a:srgbClr val="1A1530"/>
          </a:solidFill>
          <a:ln w="19050">
            <a:solidFill>
              <a:srgbClr val="E85D75"/>
            </a:solidFill>
            <a:prstDash val="solid"/>
          </a:ln>
          <a:effectLst>
            <a:outerShdw blurRad="50800" dist="25400" dir="2700000" algn="bl" rotWithShape="0">
              <a:srgbClr val="E85D75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7"/>
          <p:cNvSpPr/>
          <p:nvPr/>
        </p:nvSpPr>
        <p:spPr>
          <a:xfrm>
            <a:off x="6328600" y="4193545"/>
            <a:ext cx="2700000" cy="320040"/>
          </a:xfrm>
          <a:prstGeom prst="round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8"/>
          <p:cNvSpPr/>
          <p:nvPr/>
        </p:nvSpPr>
        <p:spPr>
          <a:xfrm>
            <a:off x="6328600" y="4211833"/>
            <a:ext cx="270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ja-JP" sz="11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排他ログイン（独自機能）</a:t>
            </a:r>
            <a:endParaRPr lang="en-US" sz="1100"/>
          </a:p>
        </p:txBody>
      </p:sp>
      <p:sp>
        <p:nvSpPr>
          <p:cNvPr id="22" name="Text 19"/>
          <p:cNvSpPr/>
          <p:nvPr/>
        </p:nvSpPr>
        <p:spPr>
          <a:xfrm>
            <a:off x="6200000" y="4600000"/>
            <a:ext cx="4900000" cy="16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ja-JP" sz="120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同一アカウントの多重ログインを検出</a:t>
            </a:r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ja-JP" sz="120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WebSocket経由で旧端末を即座に強制ログアウト</a:t>
            </a:r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ja-JP" sz="120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「異地ログイン検出」警告ポップアップを表示</a:t>
            </a:r>
          </a:p>
        </p:txBody>
      </p:sp>
      <p:sp>
        <p:nvSpPr>
          <p:cNvPr id="23" name="Shape 20"/>
          <p:cNvSpPr/>
          <p:nvPr/>
        </p:nvSpPr>
        <p:spPr>
          <a:xfrm>
            <a:off x="640080" y="6565392"/>
            <a:ext cx="10881360" cy="0"/>
          </a:xfrm>
          <a:prstGeom prst="line">
            <a:avLst/>
          </a:prstGeom>
          <a:noFill/>
          <a:ln w="12700">
            <a:solidFill>
              <a:srgbClr val="2A3A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14DED4-C055-DB7A-3E29-BB43631D7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 14">
            <a:extLst>
              <a:ext uri="{FF2B5EF4-FFF2-40B4-BE49-F238E27FC236}">
                <a16:creationId xmlns:a16="http://schemas.microsoft.com/office/drawing/2014/main" id="{9F340B12-03BD-1EFD-2285-46788DF35213}"/>
              </a:ext>
            </a:extLst>
          </p:cNvPr>
          <p:cNvSpPr/>
          <p:nvPr/>
        </p:nvSpPr>
        <p:spPr>
          <a:xfrm>
            <a:off x="1086793" y="3280034"/>
            <a:ext cx="5058837" cy="2509876"/>
          </a:xfrm>
          <a:prstGeom prst="roundRect">
            <a:avLst>
              <a:gd name="adj" fmla="val 10007"/>
            </a:avLst>
          </a:prstGeom>
          <a:solidFill>
            <a:srgbClr val="232942"/>
          </a:solidFill>
          <a:ln w="19050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897AAC98-47CC-D13A-8610-20B6382D9EF9}"/>
              </a:ext>
            </a:extLst>
          </p:cNvPr>
          <p:cNvSpPr/>
          <p:nvPr/>
        </p:nvSpPr>
        <p:spPr>
          <a:xfrm>
            <a:off x="4505" y="6966"/>
            <a:ext cx="12191695" cy="164592"/>
          </a:xfrm>
          <a:prstGeom prst="rect">
            <a:avLst/>
          </a:prstGeom>
          <a:solidFill>
            <a:srgbClr val="0F1730">
              <a:alpha val="85000"/>
            </a:srgbClr>
          </a:solidFill>
          <a:ln w="12700">
            <a:solidFill>
              <a:srgbClr val="0F173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5" name="Image 0" descr="logo">
            <a:extLst>
              <a:ext uri="{FF2B5EF4-FFF2-40B4-BE49-F238E27FC236}">
                <a16:creationId xmlns:a16="http://schemas.microsoft.com/office/drawing/2014/main" id="{8469FF24-8106-941D-98DF-39030FFE3B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228600"/>
            <a:ext cx="502920" cy="502920"/>
          </a:xfrm>
          <a:prstGeom prst="rect">
            <a:avLst/>
          </a:prstGeom>
        </p:spPr>
      </p:pic>
      <p:sp>
        <p:nvSpPr>
          <p:cNvPr id="23" name="Shape 20">
            <a:extLst>
              <a:ext uri="{FF2B5EF4-FFF2-40B4-BE49-F238E27FC236}">
                <a16:creationId xmlns:a16="http://schemas.microsoft.com/office/drawing/2014/main" id="{BEF0DF10-1927-9833-7650-9B3FCD65BB86}"/>
              </a:ext>
            </a:extLst>
          </p:cNvPr>
          <p:cNvSpPr/>
          <p:nvPr/>
        </p:nvSpPr>
        <p:spPr>
          <a:xfrm>
            <a:off x="640080" y="6565392"/>
            <a:ext cx="10881360" cy="0"/>
          </a:xfrm>
          <a:prstGeom prst="line">
            <a:avLst/>
          </a:prstGeom>
          <a:noFill/>
          <a:ln w="12700">
            <a:solidFill>
              <a:srgbClr val="2A3A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0">
            <a:extLst>
              <a:ext uri="{FF2B5EF4-FFF2-40B4-BE49-F238E27FC236}">
                <a16:creationId xmlns:a16="http://schemas.microsoft.com/office/drawing/2014/main" id="{C85FE816-7282-583D-AC21-7F4FD819B9CB}"/>
              </a:ext>
            </a:extLst>
          </p:cNvPr>
          <p:cNvSpPr/>
          <p:nvPr/>
        </p:nvSpPr>
        <p:spPr>
          <a:xfrm>
            <a:off x="507950" y="228600"/>
            <a:ext cx="829066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A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デプロイ・運用環境</a:t>
            </a:r>
            <a:endParaRPr lang="en-US" sz="2400" dirty="0"/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F5D24A06-65DF-1D80-4BDB-C3D081B48CDD}"/>
              </a:ext>
            </a:extLst>
          </p:cNvPr>
          <p:cNvSpPr/>
          <p:nvPr/>
        </p:nvSpPr>
        <p:spPr>
          <a:xfrm>
            <a:off x="507950" y="692051"/>
            <a:ext cx="82906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Bef>
                <a:spcPts val="500"/>
              </a:spcBef>
            </a:pPr>
            <a:r>
              <a:rPr lang="en-US" altLang="zh-CN" sz="1100" dirty="0">
                <a:solidFill>
                  <a:srgbClr val="B9C6E8"/>
                </a:solidFill>
                <a:latin typeface="Arial" pitchFamily="34" charset="0"/>
                <a:cs typeface="Arial" pitchFamily="34" charset="-120"/>
              </a:rPr>
              <a:t>Infrastructure as Code: </a:t>
            </a:r>
            <a:r>
              <a:rPr lang="zh-CN" altLang="en-US" sz="1100" dirty="0">
                <a:solidFill>
                  <a:srgbClr val="B9C6E8"/>
                </a:solidFill>
                <a:latin typeface="Arial" pitchFamily="34" charset="0"/>
                <a:cs typeface="Arial" pitchFamily="34" charset="-120"/>
              </a:rPr>
              <a:t>開発</a:t>
            </a:r>
            <a:r>
              <a:rPr lang="ja-JP" altLang="en-US" sz="1100">
                <a:solidFill>
                  <a:srgbClr val="B9C6E8"/>
                </a:solidFill>
                <a:latin typeface="Arial" pitchFamily="34" charset="0"/>
                <a:cs typeface="Arial" pitchFamily="34" charset="-120"/>
              </a:rPr>
              <a:t>からデプロイ、ネットワークセキュリティまでを</a:t>
            </a:r>
            <a:r>
              <a:rPr lang="zh-CN" altLang="en-US" sz="1100" dirty="0">
                <a:solidFill>
                  <a:srgbClr val="B9C6E8"/>
                </a:solidFill>
                <a:latin typeface="Arial" pitchFamily="34" charset="0"/>
                <a:cs typeface="Arial" pitchFamily="34" charset="-120"/>
              </a:rPr>
              <a:t>自宅完結</a:t>
            </a:r>
            <a:endParaRPr lang="en-US" sz="1100" dirty="0">
              <a:solidFill>
                <a:srgbClr val="B9C6E8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26" name="Text 2">
            <a:extLst>
              <a:ext uri="{FF2B5EF4-FFF2-40B4-BE49-F238E27FC236}">
                <a16:creationId xmlns:a16="http://schemas.microsoft.com/office/drawing/2014/main" id="{F2479657-2BEC-24A2-0FB9-2140BB9CFA7E}"/>
              </a:ext>
            </a:extLst>
          </p:cNvPr>
          <p:cNvSpPr/>
          <p:nvPr/>
        </p:nvSpPr>
        <p:spPr>
          <a:xfrm>
            <a:off x="2852665" y="1514045"/>
            <a:ext cx="2096405" cy="17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EA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Access（外部アクセス）</a:t>
            </a:r>
            <a:endParaRPr lang="en-US" sz="1100" dirty="0"/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E748FA8F-D375-DEB1-F18F-7A5002BFB92D}"/>
              </a:ext>
            </a:extLst>
          </p:cNvPr>
          <p:cNvSpPr/>
          <p:nvPr/>
        </p:nvSpPr>
        <p:spPr>
          <a:xfrm>
            <a:off x="3081602" y="2011420"/>
            <a:ext cx="1892052" cy="469850"/>
          </a:xfrm>
          <a:prstGeom prst="roundRect">
            <a:avLst>
              <a:gd name="adj" fmla="val 16218"/>
            </a:avLst>
          </a:prstGeom>
          <a:solidFill>
            <a:srgbClr val="2A3152"/>
          </a:solidFill>
          <a:ln w="19050">
            <a:solidFill>
              <a:schemeClr val="accent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8" name="Image 0" descr="/home/dev/EZChat/file/workspace/infra-slide/logos/cloudflare.png">
            <a:extLst>
              <a:ext uri="{FF2B5EF4-FFF2-40B4-BE49-F238E27FC236}">
                <a16:creationId xmlns:a16="http://schemas.microsoft.com/office/drawing/2014/main" id="{3A04ED87-A917-FCCA-8BD6-8EDADF4E9A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2153" y="2106670"/>
            <a:ext cx="279350" cy="279350"/>
          </a:xfrm>
          <a:prstGeom prst="rect">
            <a:avLst/>
          </a:prstGeom>
        </p:spPr>
      </p:pic>
      <p:sp>
        <p:nvSpPr>
          <p:cNvPr id="29" name="Text 4">
            <a:extLst>
              <a:ext uri="{FF2B5EF4-FFF2-40B4-BE49-F238E27FC236}">
                <a16:creationId xmlns:a16="http://schemas.microsoft.com/office/drawing/2014/main" id="{5BD377BF-BBD9-E973-5ACE-79FAB4A2E94E}"/>
              </a:ext>
            </a:extLst>
          </p:cNvPr>
          <p:cNvSpPr/>
          <p:nvPr/>
        </p:nvSpPr>
        <p:spPr>
          <a:xfrm>
            <a:off x="3557704" y="2125720"/>
            <a:ext cx="8326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A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Cloudflare</a:t>
            </a:r>
            <a:endParaRPr lang="en-US" sz="900" dirty="0"/>
          </a:p>
        </p:txBody>
      </p:sp>
      <p:sp>
        <p:nvSpPr>
          <p:cNvPr id="30" name="Text 5">
            <a:extLst>
              <a:ext uri="{FF2B5EF4-FFF2-40B4-BE49-F238E27FC236}">
                <a16:creationId xmlns:a16="http://schemas.microsoft.com/office/drawing/2014/main" id="{DD47658D-C707-453E-BD87-40FDB2BCF2C0}"/>
              </a:ext>
            </a:extLst>
          </p:cNvPr>
          <p:cNvSpPr/>
          <p:nvPr/>
        </p:nvSpPr>
        <p:spPr>
          <a:xfrm>
            <a:off x="3557704" y="2271720"/>
            <a:ext cx="83264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700" dirty="0">
                <a:solidFill>
                  <a:srgbClr val="B9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CDN + WAF + Proxy</a:t>
            </a:r>
            <a:endParaRPr lang="en-US" sz="700" dirty="0"/>
          </a:p>
        </p:txBody>
      </p:sp>
      <p:sp>
        <p:nvSpPr>
          <p:cNvPr id="32" name="Text 7">
            <a:extLst>
              <a:ext uri="{FF2B5EF4-FFF2-40B4-BE49-F238E27FC236}">
                <a16:creationId xmlns:a16="http://schemas.microsoft.com/office/drawing/2014/main" id="{E60C5A56-23D2-A142-95A1-98D7C8A15959}"/>
              </a:ext>
            </a:extLst>
          </p:cNvPr>
          <p:cNvSpPr/>
          <p:nvPr/>
        </p:nvSpPr>
        <p:spPr>
          <a:xfrm>
            <a:off x="5522320" y="1928478"/>
            <a:ext cx="1892052" cy="619541"/>
          </a:xfrm>
          <a:prstGeom prst="roundRect">
            <a:avLst>
              <a:gd name="adj" fmla="val 16218"/>
            </a:avLst>
          </a:prstGeom>
          <a:solidFill>
            <a:srgbClr val="2A3152"/>
          </a:solidFill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3" name="Image 1" descr="/home/dev/EZChat/file/workspace/infra-slide/logos/routeros.png">
            <a:extLst>
              <a:ext uri="{FF2B5EF4-FFF2-40B4-BE49-F238E27FC236}">
                <a16:creationId xmlns:a16="http://schemas.microsoft.com/office/drawing/2014/main" id="{14B6549D-F59B-37FC-166B-E6691DF81A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8300" y="2099015"/>
            <a:ext cx="279350" cy="279350"/>
          </a:xfrm>
          <a:prstGeom prst="rect">
            <a:avLst/>
          </a:prstGeom>
        </p:spPr>
      </p:pic>
      <p:sp>
        <p:nvSpPr>
          <p:cNvPr id="34" name="Text 8">
            <a:extLst>
              <a:ext uri="{FF2B5EF4-FFF2-40B4-BE49-F238E27FC236}">
                <a16:creationId xmlns:a16="http://schemas.microsoft.com/office/drawing/2014/main" id="{367D2E34-4B87-22C1-9101-7E2936EE2A84}"/>
              </a:ext>
            </a:extLst>
          </p:cNvPr>
          <p:cNvSpPr/>
          <p:nvPr/>
        </p:nvSpPr>
        <p:spPr>
          <a:xfrm>
            <a:off x="5998422" y="2035769"/>
            <a:ext cx="1117965" cy="157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00" b="1" dirty="0" err="1">
                <a:solidFill>
                  <a:srgbClr val="EA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RouterOS</a:t>
            </a:r>
            <a:r>
              <a:rPr lang="en-US" sz="900" b="1" dirty="0">
                <a:solidFill>
                  <a:srgbClr val="EA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en-US" sz="900" b="1" dirty="0" err="1">
                <a:solidFill>
                  <a:srgbClr val="EA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MikroTik</a:t>
            </a:r>
            <a:r>
              <a:rPr lang="en-US" sz="900" b="1" dirty="0">
                <a:solidFill>
                  <a:srgbClr val="EA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900" b="1" dirty="0">
              <a:solidFill>
                <a:srgbClr val="EAF0FF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35" name="Text 9">
            <a:extLst>
              <a:ext uri="{FF2B5EF4-FFF2-40B4-BE49-F238E27FC236}">
                <a16:creationId xmlns:a16="http://schemas.microsoft.com/office/drawing/2014/main" id="{96212E54-AA1C-769D-F0AC-1310D53169C9}"/>
              </a:ext>
            </a:extLst>
          </p:cNvPr>
          <p:cNvSpPr/>
          <p:nvPr/>
        </p:nvSpPr>
        <p:spPr>
          <a:xfrm>
            <a:off x="5998421" y="2195484"/>
            <a:ext cx="995629" cy="252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Bef>
                <a:spcPts val="100"/>
              </a:spcBef>
            </a:pPr>
            <a:r>
              <a:rPr lang="en-US" altLang="zh-CN" sz="700" dirty="0">
                <a:solidFill>
                  <a:srgbClr val="B9C6E8"/>
                </a:solidFill>
                <a:latin typeface="Arial" pitchFamily="34" charset="0"/>
                <a:cs typeface="Arial" pitchFamily="34" charset="-120"/>
              </a:rPr>
              <a:t>NAT / Port Forwarding</a:t>
            </a:r>
          </a:p>
          <a:p>
            <a:pPr>
              <a:spcBef>
                <a:spcPts val="100"/>
              </a:spcBef>
            </a:pPr>
            <a:r>
              <a:rPr lang="en-US" sz="700" dirty="0">
                <a:solidFill>
                  <a:srgbClr val="B9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Firewall</a:t>
            </a:r>
            <a:r>
              <a:rPr lang="zh-CN" altLang="en-US" sz="700" dirty="0">
                <a:solidFill>
                  <a:srgbClr val="B9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700" dirty="0">
                <a:solidFill>
                  <a:srgbClr val="B9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zh-CN" altLang="en-US" sz="700" dirty="0">
                <a:solidFill>
                  <a:srgbClr val="B9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700" dirty="0">
                <a:solidFill>
                  <a:srgbClr val="B9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DDNS</a:t>
            </a:r>
            <a:endParaRPr lang="en-US" sz="700" dirty="0"/>
          </a:p>
        </p:txBody>
      </p:sp>
      <p:sp>
        <p:nvSpPr>
          <p:cNvPr id="41" name="Text 14">
            <a:extLst>
              <a:ext uri="{FF2B5EF4-FFF2-40B4-BE49-F238E27FC236}">
                <a16:creationId xmlns:a16="http://schemas.microsoft.com/office/drawing/2014/main" id="{236FD044-7D62-0D7F-E324-C67DA6956FA5}"/>
              </a:ext>
            </a:extLst>
          </p:cNvPr>
          <p:cNvSpPr/>
          <p:nvPr/>
        </p:nvSpPr>
        <p:spPr>
          <a:xfrm>
            <a:off x="8026272" y="1680821"/>
            <a:ext cx="3427660" cy="4109082"/>
          </a:xfrm>
          <a:prstGeom prst="roundRect">
            <a:avLst>
              <a:gd name="adj" fmla="val 10007"/>
            </a:avLst>
          </a:prstGeom>
          <a:solidFill>
            <a:srgbClr val="232942"/>
          </a:solidFill>
          <a:ln w="19050">
            <a:solidFill>
              <a:srgbClr val="ED7D3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2" name="Image 3" descr="/home/dev/EZChat/file/workspace/infra-slide/logos/proxmox.png">
            <a:extLst>
              <a:ext uri="{FF2B5EF4-FFF2-40B4-BE49-F238E27FC236}">
                <a16:creationId xmlns:a16="http://schemas.microsoft.com/office/drawing/2014/main" id="{E217C648-73F1-1AB4-0BCA-3E2A410CBC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6110" y="1906371"/>
            <a:ext cx="253901" cy="253901"/>
          </a:xfrm>
          <a:prstGeom prst="rect">
            <a:avLst/>
          </a:prstGeom>
        </p:spPr>
      </p:pic>
      <p:sp>
        <p:nvSpPr>
          <p:cNvPr id="43" name="Text 15">
            <a:extLst>
              <a:ext uri="{FF2B5EF4-FFF2-40B4-BE49-F238E27FC236}">
                <a16:creationId xmlns:a16="http://schemas.microsoft.com/office/drawing/2014/main" id="{4A5BE083-98BC-C993-4819-24A65BAA809B}"/>
              </a:ext>
            </a:extLst>
          </p:cNvPr>
          <p:cNvSpPr/>
          <p:nvPr/>
        </p:nvSpPr>
        <p:spPr>
          <a:xfrm>
            <a:off x="8906211" y="1961884"/>
            <a:ext cx="20583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Proxmox VE (PVE) –</a:t>
            </a:r>
            <a:r>
              <a:rPr lang="zh-CN" altLang="en-US" sz="10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自宅サーバ</a:t>
            </a:r>
            <a:endParaRPr lang="en-US" sz="1000" dirty="0"/>
          </a:p>
        </p:txBody>
      </p:sp>
      <p:sp>
        <p:nvSpPr>
          <p:cNvPr id="44" name="Text 16">
            <a:extLst>
              <a:ext uri="{FF2B5EF4-FFF2-40B4-BE49-F238E27FC236}">
                <a16:creationId xmlns:a16="http://schemas.microsoft.com/office/drawing/2014/main" id="{B938EE56-D794-195E-0DD4-8A838E5DC0CC}"/>
              </a:ext>
            </a:extLst>
          </p:cNvPr>
          <p:cNvSpPr/>
          <p:nvPr/>
        </p:nvSpPr>
        <p:spPr>
          <a:xfrm>
            <a:off x="8383239" y="3601489"/>
            <a:ext cx="2661196" cy="564420"/>
          </a:xfrm>
          <a:prstGeom prst="roundRect">
            <a:avLst>
              <a:gd name="adj" fmla="val 15162"/>
            </a:avLst>
          </a:prstGeom>
          <a:solidFill>
            <a:srgbClr val="1A1F36"/>
          </a:solidFill>
          <a:ln w="19050">
            <a:solidFill>
              <a:srgbClr val="C000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5" name="Image 4" descr="/home/dev/EZChat/file/workspace/infra-slide/logos/debian.png">
            <a:extLst>
              <a:ext uri="{FF2B5EF4-FFF2-40B4-BE49-F238E27FC236}">
                <a16:creationId xmlns:a16="http://schemas.microsoft.com/office/drawing/2014/main" id="{EBDB2B2B-95C8-BB2F-E1B0-63F71D1FAD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4646" y="3759356"/>
            <a:ext cx="253901" cy="253901"/>
          </a:xfrm>
          <a:prstGeom prst="rect">
            <a:avLst/>
          </a:prstGeom>
        </p:spPr>
      </p:pic>
      <p:sp>
        <p:nvSpPr>
          <p:cNvPr id="46" name="Text 17">
            <a:extLst>
              <a:ext uri="{FF2B5EF4-FFF2-40B4-BE49-F238E27FC236}">
                <a16:creationId xmlns:a16="http://schemas.microsoft.com/office/drawing/2014/main" id="{8355C154-2E85-04A0-02CF-9EBF6FCA9C5F}"/>
              </a:ext>
            </a:extLst>
          </p:cNvPr>
          <p:cNvSpPr/>
          <p:nvPr/>
        </p:nvSpPr>
        <p:spPr>
          <a:xfrm>
            <a:off x="8824746" y="3690191"/>
            <a:ext cx="12774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A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Debian VM（開発サーバ）</a:t>
            </a:r>
            <a:endParaRPr lang="en-US" sz="800" dirty="0"/>
          </a:p>
        </p:txBody>
      </p:sp>
      <p:sp>
        <p:nvSpPr>
          <p:cNvPr id="47" name="Text 18">
            <a:extLst>
              <a:ext uri="{FF2B5EF4-FFF2-40B4-BE49-F238E27FC236}">
                <a16:creationId xmlns:a16="http://schemas.microsoft.com/office/drawing/2014/main" id="{6A7E5F6B-A6A8-1220-2243-3666A37EA138}"/>
              </a:ext>
            </a:extLst>
          </p:cNvPr>
          <p:cNvSpPr/>
          <p:nvPr/>
        </p:nvSpPr>
        <p:spPr>
          <a:xfrm>
            <a:off x="8824745" y="3836191"/>
            <a:ext cx="1525803" cy="92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700" dirty="0" err="1">
                <a:solidFill>
                  <a:srgbClr val="B9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Jetbrains</a:t>
            </a:r>
            <a:r>
              <a:rPr lang="en-US" sz="700" dirty="0">
                <a:solidFill>
                  <a:srgbClr val="B9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IDEA / </a:t>
            </a:r>
            <a:r>
              <a:rPr lang="en-US" sz="700" dirty="0" err="1">
                <a:solidFill>
                  <a:srgbClr val="B9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VSCode</a:t>
            </a:r>
            <a:r>
              <a:rPr lang="en-US" sz="700" dirty="0">
                <a:solidFill>
                  <a:srgbClr val="B9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r>
              <a:rPr lang="en-US" sz="700" dirty="0" err="1">
                <a:solidFill>
                  <a:srgbClr val="B9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Tailscale</a:t>
            </a:r>
            <a:endParaRPr lang="en-US" sz="700" dirty="0"/>
          </a:p>
        </p:txBody>
      </p:sp>
      <p:sp>
        <p:nvSpPr>
          <p:cNvPr id="49" name="Text 20">
            <a:extLst>
              <a:ext uri="{FF2B5EF4-FFF2-40B4-BE49-F238E27FC236}">
                <a16:creationId xmlns:a16="http://schemas.microsoft.com/office/drawing/2014/main" id="{F9327756-BCE9-3481-3092-0FF889BE9026}"/>
              </a:ext>
            </a:extLst>
          </p:cNvPr>
          <p:cNvSpPr/>
          <p:nvPr/>
        </p:nvSpPr>
        <p:spPr>
          <a:xfrm>
            <a:off x="8391550" y="4760443"/>
            <a:ext cx="2661196" cy="418802"/>
          </a:xfrm>
          <a:prstGeom prst="roundRect">
            <a:avLst>
              <a:gd name="adj" fmla="val 15162"/>
            </a:avLst>
          </a:prstGeom>
          <a:solidFill>
            <a:srgbClr val="1A1F36"/>
          </a:solidFill>
          <a:ln w="19050">
            <a:solidFill>
              <a:srgbClr val="E9542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0" name="Image 5" descr="/home/dev/EZChat/file/workspace/infra-slide/logos/ubuntu.png">
            <a:extLst>
              <a:ext uri="{FF2B5EF4-FFF2-40B4-BE49-F238E27FC236}">
                <a16:creationId xmlns:a16="http://schemas.microsoft.com/office/drawing/2014/main" id="{DE2CA97A-D57F-2446-99E8-4587E636A8F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12101" y="4842894"/>
            <a:ext cx="253901" cy="253901"/>
          </a:xfrm>
          <a:prstGeom prst="rect">
            <a:avLst/>
          </a:prstGeom>
        </p:spPr>
      </p:pic>
      <p:sp>
        <p:nvSpPr>
          <p:cNvPr id="51" name="Text 21">
            <a:extLst>
              <a:ext uri="{FF2B5EF4-FFF2-40B4-BE49-F238E27FC236}">
                <a16:creationId xmlns:a16="http://schemas.microsoft.com/office/drawing/2014/main" id="{2555D284-2307-B29F-EB09-F354CCB463C9}"/>
              </a:ext>
            </a:extLst>
          </p:cNvPr>
          <p:cNvSpPr/>
          <p:nvPr/>
        </p:nvSpPr>
        <p:spPr>
          <a:xfrm>
            <a:off x="8842202" y="4849145"/>
            <a:ext cx="1490891" cy="128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A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Ubuntu </a:t>
            </a:r>
            <a:r>
              <a:rPr lang="en-US" sz="800" b="1" dirty="0" err="1">
                <a:solidFill>
                  <a:srgbClr val="EA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VM（Docker</a:t>
            </a:r>
            <a:r>
              <a:rPr lang="zh-CN" altLang="en-US" sz="800" b="1" dirty="0">
                <a:solidFill>
                  <a:srgbClr val="EA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サーバ</a:t>
            </a:r>
            <a:r>
              <a:rPr lang="en-US" sz="800" b="1" dirty="0">
                <a:solidFill>
                  <a:srgbClr val="EA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）</a:t>
            </a:r>
            <a:endParaRPr lang="en-US" sz="800" dirty="0"/>
          </a:p>
        </p:txBody>
      </p:sp>
      <p:sp>
        <p:nvSpPr>
          <p:cNvPr id="52" name="Text 22">
            <a:extLst>
              <a:ext uri="{FF2B5EF4-FFF2-40B4-BE49-F238E27FC236}">
                <a16:creationId xmlns:a16="http://schemas.microsoft.com/office/drawing/2014/main" id="{4455FA61-AE2B-81D2-1FA1-B65649F189DE}"/>
              </a:ext>
            </a:extLst>
          </p:cNvPr>
          <p:cNvSpPr/>
          <p:nvPr/>
        </p:nvSpPr>
        <p:spPr>
          <a:xfrm>
            <a:off x="8842202" y="4995145"/>
            <a:ext cx="1778173" cy="1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700" dirty="0">
                <a:solidFill>
                  <a:srgbClr val="B9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8</a:t>
            </a:r>
            <a:r>
              <a:rPr lang="zh-CN" altLang="en-US" sz="700" dirty="0">
                <a:solidFill>
                  <a:srgbClr val="B9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700" dirty="0">
                <a:solidFill>
                  <a:srgbClr val="B9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</a:t>
            </a:r>
            <a:r>
              <a:rPr lang="en-US" sz="700" dirty="0">
                <a:solidFill>
                  <a:srgbClr val="B9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MinIO (S3) container</a:t>
            </a:r>
            <a:endParaRPr lang="en-US" sz="700" dirty="0"/>
          </a:p>
        </p:txBody>
      </p:sp>
      <p:sp>
        <p:nvSpPr>
          <p:cNvPr id="53" name="Text 23">
            <a:extLst>
              <a:ext uri="{FF2B5EF4-FFF2-40B4-BE49-F238E27FC236}">
                <a16:creationId xmlns:a16="http://schemas.microsoft.com/office/drawing/2014/main" id="{747FA434-A4B6-E065-4FD1-86E185A0F8EA}"/>
              </a:ext>
            </a:extLst>
          </p:cNvPr>
          <p:cNvSpPr/>
          <p:nvPr/>
        </p:nvSpPr>
        <p:spPr>
          <a:xfrm>
            <a:off x="3109764" y="5256613"/>
            <a:ext cx="2146654" cy="31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100" b="1" dirty="0" err="1">
                <a:solidFill>
                  <a:srgbClr val="EA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MacBook（リモート開発</a:t>
            </a:r>
            <a:r>
              <a:rPr lang="en-US" sz="1100" b="1" dirty="0">
                <a:solidFill>
                  <a:srgbClr val="EA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）</a:t>
            </a:r>
          </a:p>
          <a:p>
            <a:pPr marL="0" indent="0" algn="l">
              <a:spcAft>
                <a:spcPts val="600"/>
              </a:spcAft>
              <a:buNone/>
            </a:pPr>
            <a:endParaRPr lang="en-US" sz="1100" dirty="0"/>
          </a:p>
        </p:txBody>
      </p:sp>
      <p:sp>
        <p:nvSpPr>
          <p:cNvPr id="54" name="Text 24">
            <a:extLst>
              <a:ext uri="{FF2B5EF4-FFF2-40B4-BE49-F238E27FC236}">
                <a16:creationId xmlns:a16="http://schemas.microsoft.com/office/drawing/2014/main" id="{F21CD287-091C-D4CC-54B3-F432C605E099}"/>
              </a:ext>
            </a:extLst>
          </p:cNvPr>
          <p:cNvSpPr/>
          <p:nvPr/>
        </p:nvSpPr>
        <p:spPr>
          <a:xfrm>
            <a:off x="3949776" y="3645619"/>
            <a:ext cx="1892052" cy="469850"/>
          </a:xfrm>
          <a:prstGeom prst="roundRect">
            <a:avLst>
              <a:gd name="adj" fmla="val 16218"/>
            </a:avLst>
          </a:prstGeom>
          <a:solidFill>
            <a:srgbClr val="2A3152"/>
          </a:solidFill>
          <a:ln w="1905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5" name="Image 6" descr="/home/dev/EZChat/file/workspace/infra-slide/logos/tailscale.png">
            <a:extLst>
              <a:ext uri="{FF2B5EF4-FFF2-40B4-BE49-F238E27FC236}">
                <a16:creationId xmlns:a16="http://schemas.microsoft.com/office/drawing/2014/main" id="{D5C03F55-C15B-C47B-75A1-FF89156F473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70327" y="3740869"/>
            <a:ext cx="279350" cy="279350"/>
          </a:xfrm>
          <a:prstGeom prst="rect">
            <a:avLst/>
          </a:prstGeom>
        </p:spPr>
      </p:pic>
      <p:sp>
        <p:nvSpPr>
          <p:cNvPr id="56" name="Text 25">
            <a:extLst>
              <a:ext uri="{FF2B5EF4-FFF2-40B4-BE49-F238E27FC236}">
                <a16:creationId xmlns:a16="http://schemas.microsoft.com/office/drawing/2014/main" id="{FA4A2C0C-C482-31BB-D8B4-964FF9281176}"/>
              </a:ext>
            </a:extLst>
          </p:cNvPr>
          <p:cNvSpPr/>
          <p:nvPr/>
        </p:nvSpPr>
        <p:spPr>
          <a:xfrm>
            <a:off x="4425877" y="3750394"/>
            <a:ext cx="8704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A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Tailscale</a:t>
            </a:r>
            <a:endParaRPr lang="en-US" sz="900" dirty="0"/>
          </a:p>
        </p:txBody>
      </p:sp>
      <p:sp>
        <p:nvSpPr>
          <p:cNvPr id="57" name="Text 26">
            <a:extLst>
              <a:ext uri="{FF2B5EF4-FFF2-40B4-BE49-F238E27FC236}">
                <a16:creationId xmlns:a16="http://schemas.microsoft.com/office/drawing/2014/main" id="{F45BC3FB-2543-EE7F-2CB0-D7ED473F2EF7}"/>
              </a:ext>
            </a:extLst>
          </p:cNvPr>
          <p:cNvSpPr/>
          <p:nvPr/>
        </p:nvSpPr>
        <p:spPr>
          <a:xfrm>
            <a:off x="4425877" y="3896394"/>
            <a:ext cx="87044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700" dirty="0" err="1">
                <a:solidFill>
                  <a:srgbClr val="B9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SD-WAN（非公開</a:t>
            </a:r>
            <a:r>
              <a:rPr lang="en-US" sz="700" dirty="0">
                <a:solidFill>
                  <a:srgbClr val="B9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）</a:t>
            </a:r>
            <a:endParaRPr lang="en-US" sz="700" dirty="0"/>
          </a:p>
        </p:txBody>
      </p:sp>
      <p:sp>
        <p:nvSpPr>
          <p:cNvPr id="59" name="Text 28">
            <a:extLst>
              <a:ext uri="{FF2B5EF4-FFF2-40B4-BE49-F238E27FC236}">
                <a16:creationId xmlns:a16="http://schemas.microsoft.com/office/drawing/2014/main" id="{C87ADD79-6D45-9879-4AD3-5F19F336E8F8}"/>
              </a:ext>
            </a:extLst>
          </p:cNvPr>
          <p:cNvSpPr/>
          <p:nvPr/>
        </p:nvSpPr>
        <p:spPr>
          <a:xfrm>
            <a:off x="1419259" y="3642798"/>
            <a:ext cx="1892052" cy="469850"/>
          </a:xfrm>
          <a:prstGeom prst="roundRect">
            <a:avLst>
              <a:gd name="adj" fmla="val 16218"/>
            </a:avLst>
          </a:prstGeom>
          <a:solidFill>
            <a:srgbClr val="2A3152"/>
          </a:solidFill>
          <a:ln w="19050">
            <a:solidFill>
              <a:srgbClr val="4472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0" name="Image 7" descr="/home/dev/EZChat/file/workspace/infra-slide/logos/jetbrains.png">
            <a:extLst>
              <a:ext uri="{FF2B5EF4-FFF2-40B4-BE49-F238E27FC236}">
                <a16:creationId xmlns:a16="http://schemas.microsoft.com/office/drawing/2014/main" id="{8CBC5A80-1DF8-6E84-4063-99189E5EEB5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39810" y="3738048"/>
            <a:ext cx="279350" cy="279350"/>
          </a:xfrm>
          <a:prstGeom prst="rect">
            <a:avLst/>
          </a:prstGeom>
        </p:spPr>
      </p:pic>
      <p:sp>
        <p:nvSpPr>
          <p:cNvPr id="61" name="Text 29">
            <a:extLst>
              <a:ext uri="{FF2B5EF4-FFF2-40B4-BE49-F238E27FC236}">
                <a16:creationId xmlns:a16="http://schemas.microsoft.com/office/drawing/2014/main" id="{0A5B4280-14F0-AFDF-DEE7-69DF38D851A8}"/>
              </a:ext>
            </a:extLst>
          </p:cNvPr>
          <p:cNvSpPr/>
          <p:nvPr/>
        </p:nvSpPr>
        <p:spPr>
          <a:xfrm>
            <a:off x="1895360" y="3757098"/>
            <a:ext cx="10433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A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JetBrains Gateway</a:t>
            </a:r>
            <a:endParaRPr lang="en-US" sz="900" dirty="0"/>
          </a:p>
        </p:txBody>
      </p:sp>
      <p:sp>
        <p:nvSpPr>
          <p:cNvPr id="62" name="Text 30">
            <a:extLst>
              <a:ext uri="{FF2B5EF4-FFF2-40B4-BE49-F238E27FC236}">
                <a16:creationId xmlns:a16="http://schemas.microsoft.com/office/drawing/2014/main" id="{A5342EEB-730E-5292-82E1-FD6E07EC49D4}"/>
              </a:ext>
            </a:extLst>
          </p:cNvPr>
          <p:cNvSpPr/>
          <p:nvPr/>
        </p:nvSpPr>
        <p:spPr>
          <a:xfrm>
            <a:off x="1895360" y="3903098"/>
            <a:ext cx="104335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700" dirty="0">
                <a:solidFill>
                  <a:srgbClr val="B9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IDE (SSH)</a:t>
            </a:r>
            <a:endParaRPr lang="en-US" sz="700" dirty="0"/>
          </a:p>
        </p:txBody>
      </p:sp>
      <p:sp>
        <p:nvSpPr>
          <p:cNvPr id="66" name="Text 34">
            <a:extLst>
              <a:ext uri="{FF2B5EF4-FFF2-40B4-BE49-F238E27FC236}">
                <a16:creationId xmlns:a16="http://schemas.microsoft.com/office/drawing/2014/main" id="{0FFBDEB9-FE0D-3DD0-944D-20084648D4C0}"/>
              </a:ext>
            </a:extLst>
          </p:cNvPr>
          <p:cNvSpPr/>
          <p:nvPr/>
        </p:nvSpPr>
        <p:spPr>
          <a:xfrm>
            <a:off x="1841450" y="6135439"/>
            <a:ext cx="8509099" cy="285750"/>
          </a:xfrm>
          <a:prstGeom prst="roundRect">
            <a:avLst>
              <a:gd name="adj" fmla="val 13333"/>
            </a:avLst>
          </a:prstGeom>
          <a:solidFill>
            <a:srgbClr val="2A315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Shape 35">
            <a:extLst>
              <a:ext uri="{FF2B5EF4-FFF2-40B4-BE49-F238E27FC236}">
                <a16:creationId xmlns:a16="http://schemas.microsoft.com/office/drawing/2014/main" id="{033DE454-AB94-0F53-633D-C4EE35D36ED1}"/>
              </a:ext>
            </a:extLst>
          </p:cNvPr>
          <p:cNvSpPr/>
          <p:nvPr/>
        </p:nvSpPr>
        <p:spPr>
          <a:xfrm>
            <a:off x="1860500" y="6135439"/>
            <a:ext cx="0" cy="285750"/>
          </a:xfrm>
          <a:prstGeom prst="line">
            <a:avLst/>
          </a:prstGeom>
          <a:noFill/>
          <a:ln w="3810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36">
            <a:extLst>
              <a:ext uri="{FF2B5EF4-FFF2-40B4-BE49-F238E27FC236}">
                <a16:creationId xmlns:a16="http://schemas.microsoft.com/office/drawing/2014/main" id="{371F5068-ED69-DB43-BAE2-E776EFF66040}"/>
              </a:ext>
            </a:extLst>
          </p:cNvPr>
          <p:cNvSpPr/>
          <p:nvPr/>
        </p:nvSpPr>
        <p:spPr>
          <a:xfrm>
            <a:off x="2006501" y="6220348"/>
            <a:ext cx="83814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zh-CN" altLang="en-US" sz="800" b="1" dirty="0">
                <a:solidFill>
                  <a:srgbClr val="FFC000"/>
                </a:solidFill>
                <a:latin typeface="Arial" pitchFamily="34" charset="0"/>
                <a:cs typeface="Arial" pitchFamily="34" charset="-120"/>
              </a:rPr>
              <a:t>開発効率</a:t>
            </a:r>
            <a:r>
              <a:rPr lang="ja-JP" altLang="en-US" sz="800" b="1">
                <a:solidFill>
                  <a:srgbClr val="FFC000"/>
                </a:solidFill>
                <a:latin typeface="Arial" pitchFamily="34" charset="0"/>
                <a:cs typeface="Arial" pitchFamily="34" charset="-120"/>
              </a:rPr>
              <a:t>の</a:t>
            </a:r>
            <a:r>
              <a:rPr lang="zh-CN" altLang="en-US" sz="800" b="1" dirty="0">
                <a:solidFill>
                  <a:srgbClr val="FFC000"/>
                </a:solidFill>
                <a:latin typeface="Arial" pitchFamily="34" charset="0"/>
                <a:cs typeface="Arial" pitchFamily="34" charset="-120"/>
              </a:rPr>
              <a:t>最大化</a:t>
            </a:r>
            <a:r>
              <a:rPr lang="en-US" altLang="zh-CN" sz="800" b="1" dirty="0">
                <a:solidFill>
                  <a:srgbClr val="FFC000"/>
                </a:solidFill>
                <a:latin typeface="Arial" pitchFamily="34" charset="0"/>
                <a:cs typeface="Arial" pitchFamily="34" charset="-120"/>
              </a:rPr>
              <a:t>: </a:t>
            </a:r>
            <a:r>
              <a:rPr lang="en-US" altLang="zh-CN" sz="800" dirty="0">
                <a:solidFill>
                  <a:srgbClr val="B9C6E8"/>
                </a:solidFill>
                <a:latin typeface="Arial" pitchFamily="34" charset="0"/>
                <a:cs typeface="Arial" pitchFamily="34" charset="-120"/>
              </a:rPr>
              <a:t>JetBrains Gateway</a:t>
            </a:r>
            <a:r>
              <a:rPr lang="ja-JP" altLang="en-US" sz="800">
                <a:solidFill>
                  <a:srgbClr val="B9C6E8"/>
                </a:solidFill>
                <a:latin typeface="Arial" pitchFamily="34" charset="0"/>
                <a:cs typeface="Arial" pitchFamily="34" charset="-120"/>
              </a:rPr>
              <a:t>によるリモートデバッグ </a:t>
            </a:r>
            <a:r>
              <a:rPr lang="en-US" altLang="ja-JP" sz="800" dirty="0">
                <a:solidFill>
                  <a:srgbClr val="B9C6E8"/>
                </a:solidFill>
                <a:latin typeface="Arial" pitchFamily="34" charset="0"/>
                <a:cs typeface="Arial" pitchFamily="34" charset="-120"/>
              </a:rPr>
              <a:t>+ </a:t>
            </a:r>
            <a:r>
              <a:rPr lang="ja-JP" altLang="en-US" sz="800">
                <a:solidFill>
                  <a:srgbClr val="B9C6E8"/>
                </a:solidFill>
                <a:latin typeface="Arial" pitchFamily="34" charset="0"/>
                <a:cs typeface="Arial" pitchFamily="34" charset="-120"/>
              </a:rPr>
              <a:t>ホットリロード</a:t>
            </a:r>
            <a:r>
              <a:rPr lang="zh-CN" altLang="en-US" sz="800" dirty="0">
                <a:solidFill>
                  <a:srgbClr val="B9C6E8"/>
                </a:solidFill>
                <a:latin typeface="Arial" pitchFamily="34" charset="0"/>
                <a:cs typeface="Arial" pitchFamily="34" charset="-120"/>
              </a:rPr>
              <a:t>環境</a:t>
            </a:r>
            <a:endParaRPr lang="en-US" sz="800" dirty="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80035FFB-634A-97B9-DD46-C594C8437C96}"/>
              </a:ext>
            </a:extLst>
          </p:cNvPr>
          <p:cNvSpPr/>
          <p:nvPr/>
        </p:nvSpPr>
        <p:spPr>
          <a:xfrm>
            <a:off x="8378301" y="2482320"/>
            <a:ext cx="2656990" cy="433946"/>
          </a:xfrm>
          <a:prstGeom prst="roundRect">
            <a:avLst>
              <a:gd name="adj" fmla="val 16958"/>
            </a:avLst>
          </a:prstGeom>
          <a:solidFill>
            <a:srgbClr val="2A3152"/>
          </a:solidFill>
          <a:ln w="19050">
            <a:solidFill>
              <a:srgbClr val="70AD4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8" name="Image 2" descr="/home/dev/EZChat/file/workspace/infra-slide/logos/nginx.png">
            <a:extLst>
              <a:ext uri="{FF2B5EF4-FFF2-40B4-BE49-F238E27FC236}">
                <a16:creationId xmlns:a16="http://schemas.microsoft.com/office/drawing/2014/main" id="{79AD330D-7025-59A2-BDAA-EB425235383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02207" y="2563870"/>
            <a:ext cx="279350" cy="279350"/>
          </a:xfrm>
          <a:prstGeom prst="rect">
            <a:avLst/>
          </a:prstGeom>
        </p:spPr>
      </p:pic>
      <p:sp>
        <p:nvSpPr>
          <p:cNvPr id="39" name="Text 12">
            <a:extLst>
              <a:ext uri="{FF2B5EF4-FFF2-40B4-BE49-F238E27FC236}">
                <a16:creationId xmlns:a16="http://schemas.microsoft.com/office/drawing/2014/main" id="{E4FC77E9-1C93-127C-CCA1-C71854395738}"/>
              </a:ext>
            </a:extLst>
          </p:cNvPr>
          <p:cNvSpPr/>
          <p:nvPr/>
        </p:nvSpPr>
        <p:spPr>
          <a:xfrm>
            <a:off x="8857756" y="2582920"/>
            <a:ext cx="1412597" cy="145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A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Nginx(Linux VM </a:t>
            </a:r>
            <a:r>
              <a:rPr lang="en-US" sz="900" b="1" dirty="0" err="1">
                <a:solidFill>
                  <a:srgbClr val="EA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サーバ</a:t>
            </a:r>
            <a:r>
              <a:rPr lang="en-US" sz="900" b="1" dirty="0">
                <a:solidFill>
                  <a:srgbClr val="EA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900" dirty="0"/>
          </a:p>
        </p:txBody>
      </p:sp>
      <p:sp>
        <p:nvSpPr>
          <p:cNvPr id="40" name="Text 13">
            <a:extLst>
              <a:ext uri="{FF2B5EF4-FFF2-40B4-BE49-F238E27FC236}">
                <a16:creationId xmlns:a16="http://schemas.microsoft.com/office/drawing/2014/main" id="{3B94566F-1E0D-52CC-04BD-A35847F64480}"/>
              </a:ext>
            </a:extLst>
          </p:cNvPr>
          <p:cNvSpPr/>
          <p:nvPr/>
        </p:nvSpPr>
        <p:spPr>
          <a:xfrm>
            <a:off x="8857756" y="2728919"/>
            <a:ext cx="1236943" cy="132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700" dirty="0">
                <a:solidFill>
                  <a:srgbClr val="B9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Reverse Proxy / SSL</a:t>
            </a:r>
            <a:endParaRPr lang="en-US" sz="700" dirty="0"/>
          </a:p>
        </p:txBody>
      </p:sp>
      <p:cxnSp>
        <p:nvCxnSpPr>
          <p:cNvPr id="83" name="肘形连接符 82">
            <a:extLst>
              <a:ext uri="{FF2B5EF4-FFF2-40B4-BE49-F238E27FC236}">
                <a16:creationId xmlns:a16="http://schemas.microsoft.com/office/drawing/2014/main" id="{B0C82EBF-80A3-C429-C846-35D53C59D3E3}"/>
              </a:ext>
            </a:extLst>
          </p:cNvPr>
          <p:cNvCxnSpPr>
            <a:cxnSpLocks/>
            <a:stCxn id="32" idx="3"/>
            <a:endCxn id="69" idx="1"/>
          </p:cNvCxnSpPr>
          <p:nvPr/>
        </p:nvCxnSpPr>
        <p:spPr>
          <a:xfrm>
            <a:off x="7414372" y="2238249"/>
            <a:ext cx="963929" cy="461044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1" name="直线箭头连接符 90">
            <a:extLst>
              <a:ext uri="{FF2B5EF4-FFF2-40B4-BE49-F238E27FC236}">
                <a16:creationId xmlns:a16="http://schemas.microsoft.com/office/drawing/2014/main" id="{362995A4-44DE-FBAC-8025-F59AEAE4C974}"/>
              </a:ext>
            </a:extLst>
          </p:cNvPr>
          <p:cNvCxnSpPr>
            <a:cxnSpLocks/>
            <a:stCxn id="54" idx="3"/>
            <a:endCxn id="44" idx="1"/>
          </p:cNvCxnSpPr>
          <p:nvPr/>
        </p:nvCxnSpPr>
        <p:spPr>
          <a:xfrm>
            <a:off x="5841828" y="3880544"/>
            <a:ext cx="2541411" cy="3155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3" name="直线箭头连接符 92">
            <a:extLst>
              <a:ext uri="{FF2B5EF4-FFF2-40B4-BE49-F238E27FC236}">
                <a16:creationId xmlns:a16="http://schemas.microsoft.com/office/drawing/2014/main" id="{B3411B1A-D4D9-302A-D42D-9B70D2165179}"/>
              </a:ext>
            </a:extLst>
          </p:cNvPr>
          <p:cNvCxnSpPr>
            <a:cxnSpLocks/>
            <a:stCxn id="27" idx="3"/>
            <a:endCxn id="32" idx="1"/>
          </p:cNvCxnSpPr>
          <p:nvPr/>
        </p:nvCxnSpPr>
        <p:spPr>
          <a:xfrm flipV="1">
            <a:off x="4973654" y="2238249"/>
            <a:ext cx="548666" cy="809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95" name="Text 13">
            <a:extLst>
              <a:ext uri="{FF2B5EF4-FFF2-40B4-BE49-F238E27FC236}">
                <a16:creationId xmlns:a16="http://schemas.microsoft.com/office/drawing/2014/main" id="{C64B39B8-3727-E630-7E16-388100BB00B7}"/>
              </a:ext>
            </a:extLst>
          </p:cNvPr>
          <p:cNvSpPr/>
          <p:nvPr/>
        </p:nvSpPr>
        <p:spPr>
          <a:xfrm>
            <a:off x="6799191" y="3729919"/>
            <a:ext cx="59431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700" dirty="0" err="1">
                <a:solidFill>
                  <a:srgbClr val="B9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WireGuard</a:t>
            </a:r>
            <a:endParaRPr lang="en-US" sz="700" dirty="0"/>
          </a:p>
        </p:txBody>
      </p:sp>
      <p:cxnSp>
        <p:nvCxnSpPr>
          <p:cNvPr id="98" name="直线箭头连接符 97">
            <a:extLst>
              <a:ext uri="{FF2B5EF4-FFF2-40B4-BE49-F238E27FC236}">
                <a16:creationId xmlns:a16="http://schemas.microsoft.com/office/drawing/2014/main" id="{CF967ABA-0ED7-D05A-E532-DB97DF860F4F}"/>
              </a:ext>
            </a:extLst>
          </p:cNvPr>
          <p:cNvCxnSpPr>
            <a:stCxn id="59" idx="3"/>
            <a:endCxn id="54" idx="1"/>
          </p:cNvCxnSpPr>
          <p:nvPr/>
        </p:nvCxnSpPr>
        <p:spPr>
          <a:xfrm>
            <a:off x="3311311" y="3877723"/>
            <a:ext cx="638465" cy="28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 28">
            <a:extLst>
              <a:ext uri="{FF2B5EF4-FFF2-40B4-BE49-F238E27FC236}">
                <a16:creationId xmlns:a16="http://schemas.microsoft.com/office/drawing/2014/main" id="{B8F7565C-F931-92EB-14FC-4BAB06E47481}"/>
              </a:ext>
            </a:extLst>
          </p:cNvPr>
          <p:cNvSpPr/>
          <p:nvPr/>
        </p:nvSpPr>
        <p:spPr>
          <a:xfrm>
            <a:off x="1419259" y="4390274"/>
            <a:ext cx="1892052" cy="469850"/>
          </a:xfrm>
          <a:prstGeom prst="roundRect">
            <a:avLst>
              <a:gd name="adj" fmla="val 16218"/>
            </a:avLst>
          </a:prstGeom>
          <a:solidFill>
            <a:srgbClr val="2A3152"/>
          </a:solidFill>
          <a:ln w="19050">
            <a:solidFill>
              <a:srgbClr val="4472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1" name="Text 29">
            <a:extLst>
              <a:ext uri="{FF2B5EF4-FFF2-40B4-BE49-F238E27FC236}">
                <a16:creationId xmlns:a16="http://schemas.microsoft.com/office/drawing/2014/main" id="{BAAC9160-7F9D-5162-3D13-5E98816E7266}"/>
              </a:ext>
            </a:extLst>
          </p:cNvPr>
          <p:cNvSpPr/>
          <p:nvPr/>
        </p:nvSpPr>
        <p:spPr>
          <a:xfrm>
            <a:off x="1895360" y="4504574"/>
            <a:ext cx="10433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AF0FF"/>
                </a:solidFill>
                <a:latin typeface="Arial" pitchFamily="34" charset="0"/>
                <a:cs typeface="Arial" pitchFamily="34" charset="-120"/>
              </a:rPr>
              <a:t>VS Code</a:t>
            </a:r>
            <a:endParaRPr lang="en-US" sz="900" dirty="0"/>
          </a:p>
        </p:txBody>
      </p:sp>
      <p:sp>
        <p:nvSpPr>
          <p:cNvPr id="102" name="Text 30">
            <a:extLst>
              <a:ext uri="{FF2B5EF4-FFF2-40B4-BE49-F238E27FC236}">
                <a16:creationId xmlns:a16="http://schemas.microsoft.com/office/drawing/2014/main" id="{CC4F9600-0C68-A809-76C9-D546ACF11B25}"/>
              </a:ext>
            </a:extLst>
          </p:cNvPr>
          <p:cNvSpPr/>
          <p:nvPr/>
        </p:nvSpPr>
        <p:spPr>
          <a:xfrm>
            <a:off x="1895360" y="4650574"/>
            <a:ext cx="104335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700" dirty="0">
                <a:solidFill>
                  <a:srgbClr val="B9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IDE (SSH)</a:t>
            </a:r>
            <a:endParaRPr lang="en-US" sz="700" dirty="0"/>
          </a:p>
        </p:txBody>
      </p:sp>
      <p:pic>
        <p:nvPicPr>
          <p:cNvPr id="104" name="图片 103" descr="图标&#10;&#10;AI 生成的内容可能不正确。">
            <a:extLst>
              <a:ext uri="{FF2B5EF4-FFF2-40B4-BE49-F238E27FC236}">
                <a16:creationId xmlns:a16="http://schemas.microsoft.com/office/drawing/2014/main" id="{8A3221F4-5E2C-3FCD-7EAE-3E8D68EDE59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34760" y="4490762"/>
            <a:ext cx="284400" cy="284400"/>
          </a:xfrm>
          <a:prstGeom prst="rect">
            <a:avLst/>
          </a:prstGeom>
        </p:spPr>
      </p:pic>
      <p:cxnSp>
        <p:nvCxnSpPr>
          <p:cNvPr id="108" name="肘形连接符 107">
            <a:extLst>
              <a:ext uri="{FF2B5EF4-FFF2-40B4-BE49-F238E27FC236}">
                <a16:creationId xmlns:a16="http://schemas.microsoft.com/office/drawing/2014/main" id="{65FCE635-8191-0EDE-7C9A-5756DB3291D0}"/>
              </a:ext>
            </a:extLst>
          </p:cNvPr>
          <p:cNvCxnSpPr>
            <a:stCxn id="99" idx="3"/>
            <a:endCxn id="54" idx="1"/>
          </p:cNvCxnSpPr>
          <p:nvPr/>
        </p:nvCxnSpPr>
        <p:spPr>
          <a:xfrm flipV="1">
            <a:off x="3311311" y="3880544"/>
            <a:ext cx="638465" cy="74465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3" name="图片 112" descr="图标&#10;&#10;AI 生成的内容可能不正确。">
            <a:extLst>
              <a:ext uri="{FF2B5EF4-FFF2-40B4-BE49-F238E27FC236}">
                <a16:creationId xmlns:a16="http://schemas.microsoft.com/office/drawing/2014/main" id="{B927B7D6-78B0-6929-5009-9750700AE53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62871" y="5170390"/>
            <a:ext cx="239495" cy="284400"/>
          </a:xfrm>
          <a:prstGeom prst="rect">
            <a:avLst/>
          </a:prstGeom>
        </p:spPr>
      </p:pic>
      <p:sp>
        <p:nvSpPr>
          <p:cNvPr id="114" name="Text 14">
            <a:extLst>
              <a:ext uri="{FF2B5EF4-FFF2-40B4-BE49-F238E27FC236}">
                <a16:creationId xmlns:a16="http://schemas.microsoft.com/office/drawing/2014/main" id="{0C472525-D97E-7741-B7A5-802E5C97263A}"/>
              </a:ext>
            </a:extLst>
          </p:cNvPr>
          <p:cNvSpPr/>
          <p:nvPr/>
        </p:nvSpPr>
        <p:spPr>
          <a:xfrm>
            <a:off x="738067" y="1822097"/>
            <a:ext cx="1785791" cy="841707"/>
          </a:xfrm>
          <a:prstGeom prst="roundRect">
            <a:avLst>
              <a:gd name="adj" fmla="val 10007"/>
            </a:avLst>
          </a:prstGeom>
          <a:solidFill>
            <a:srgbClr val="232942"/>
          </a:solidFill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cxnSp>
        <p:nvCxnSpPr>
          <p:cNvPr id="116" name="直线箭头连接符 115">
            <a:extLst>
              <a:ext uri="{FF2B5EF4-FFF2-40B4-BE49-F238E27FC236}">
                <a16:creationId xmlns:a16="http://schemas.microsoft.com/office/drawing/2014/main" id="{92BE052F-05A2-22E3-2A42-C800F1E2E928}"/>
              </a:ext>
            </a:extLst>
          </p:cNvPr>
          <p:cNvCxnSpPr>
            <a:cxnSpLocks/>
            <a:stCxn id="114" idx="3"/>
            <a:endCxn id="27" idx="1"/>
          </p:cNvCxnSpPr>
          <p:nvPr/>
        </p:nvCxnSpPr>
        <p:spPr>
          <a:xfrm>
            <a:off x="2523858" y="2242951"/>
            <a:ext cx="557744" cy="339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17" name="Text 13">
            <a:extLst>
              <a:ext uri="{FF2B5EF4-FFF2-40B4-BE49-F238E27FC236}">
                <a16:creationId xmlns:a16="http://schemas.microsoft.com/office/drawing/2014/main" id="{28C5B7F9-60AA-4FBE-D3FF-FD7FD21B7AC9}"/>
              </a:ext>
            </a:extLst>
          </p:cNvPr>
          <p:cNvSpPr/>
          <p:nvPr/>
        </p:nvSpPr>
        <p:spPr>
          <a:xfrm>
            <a:off x="2643378" y="2117302"/>
            <a:ext cx="322920" cy="111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700" dirty="0">
                <a:solidFill>
                  <a:srgbClr val="B9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</a:t>
            </a:r>
            <a:endParaRPr lang="en-US" sz="700" dirty="0"/>
          </a:p>
        </p:txBody>
      </p:sp>
      <p:sp>
        <p:nvSpPr>
          <p:cNvPr id="118" name="Text 13">
            <a:extLst>
              <a:ext uri="{FF2B5EF4-FFF2-40B4-BE49-F238E27FC236}">
                <a16:creationId xmlns:a16="http://schemas.microsoft.com/office/drawing/2014/main" id="{1844A870-580E-26B2-C8A8-83C937611C70}"/>
              </a:ext>
            </a:extLst>
          </p:cNvPr>
          <p:cNvSpPr/>
          <p:nvPr/>
        </p:nvSpPr>
        <p:spPr>
          <a:xfrm>
            <a:off x="5077063" y="2118872"/>
            <a:ext cx="322920" cy="111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700" dirty="0">
                <a:solidFill>
                  <a:srgbClr val="B9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</a:t>
            </a:r>
            <a:endParaRPr lang="en-US" sz="700" dirty="0"/>
          </a:p>
        </p:txBody>
      </p:sp>
      <p:sp>
        <p:nvSpPr>
          <p:cNvPr id="119" name="Text 13">
            <a:extLst>
              <a:ext uri="{FF2B5EF4-FFF2-40B4-BE49-F238E27FC236}">
                <a16:creationId xmlns:a16="http://schemas.microsoft.com/office/drawing/2014/main" id="{1712ABA7-BA46-37E8-F6B9-CE951D250B6C}"/>
              </a:ext>
            </a:extLst>
          </p:cNvPr>
          <p:cNvSpPr/>
          <p:nvPr/>
        </p:nvSpPr>
        <p:spPr>
          <a:xfrm>
            <a:off x="2682656" y="2269702"/>
            <a:ext cx="322920" cy="111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700" dirty="0">
                <a:solidFill>
                  <a:srgbClr val="B9C6E8"/>
                </a:solidFill>
                <a:latin typeface="Arial" pitchFamily="34" charset="0"/>
                <a:cs typeface="Arial" pitchFamily="34" charset="-120"/>
              </a:rPr>
              <a:t>WSS</a:t>
            </a:r>
            <a:endParaRPr lang="en-US" sz="700" dirty="0"/>
          </a:p>
        </p:txBody>
      </p:sp>
      <p:sp>
        <p:nvSpPr>
          <p:cNvPr id="120" name="Text 13">
            <a:extLst>
              <a:ext uri="{FF2B5EF4-FFF2-40B4-BE49-F238E27FC236}">
                <a16:creationId xmlns:a16="http://schemas.microsoft.com/office/drawing/2014/main" id="{950B53B8-15C1-F865-A79C-0DC06CC5E8FC}"/>
              </a:ext>
            </a:extLst>
          </p:cNvPr>
          <p:cNvSpPr/>
          <p:nvPr/>
        </p:nvSpPr>
        <p:spPr>
          <a:xfrm>
            <a:off x="5125768" y="2271273"/>
            <a:ext cx="322920" cy="111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700" dirty="0">
                <a:solidFill>
                  <a:srgbClr val="B9C6E8"/>
                </a:solidFill>
                <a:latin typeface="Arial" pitchFamily="34" charset="0"/>
                <a:cs typeface="Arial" pitchFamily="34" charset="-120"/>
              </a:rPr>
              <a:t>WSS</a:t>
            </a:r>
            <a:endParaRPr lang="en-US" sz="700" dirty="0"/>
          </a:p>
        </p:txBody>
      </p:sp>
      <p:sp>
        <p:nvSpPr>
          <p:cNvPr id="122" name="Text 13">
            <a:extLst>
              <a:ext uri="{FF2B5EF4-FFF2-40B4-BE49-F238E27FC236}">
                <a16:creationId xmlns:a16="http://schemas.microsoft.com/office/drawing/2014/main" id="{13C2F6D4-1B27-5BC6-F44C-04CAE24E33A6}"/>
              </a:ext>
            </a:extLst>
          </p:cNvPr>
          <p:cNvSpPr/>
          <p:nvPr/>
        </p:nvSpPr>
        <p:spPr>
          <a:xfrm>
            <a:off x="7510750" y="2111013"/>
            <a:ext cx="322920" cy="111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700" dirty="0">
                <a:solidFill>
                  <a:srgbClr val="B9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</a:t>
            </a:r>
            <a:endParaRPr lang="en-US" sz="700" dirty="0"/>
          </a:p>
        </p:txBody>
      </p:sp>
      <p:sp>
        <p:nvSpPr>
          <p:cNvPr id="123" name="Text 13">
            <a:extLst>
              <a:ext uri="{FF2B5EF4-FFF2-40B4-BE49-F238E27FC236}">
                <a16:creationId xmlns:a16="http://schemas.microsoft.com/office/drawing/2014/main" id="{32395B3B-2016-590D-D2BA-F86A3855B567}"/>
              </a:ext>
            </a:extLst>
          </p:cNvPr>
          <p:cNvSpPr/>
          <p:nvPr/>
        </p:nvSpPr>
        <p:spPr>
          <a:xfrm>
            <a:off x="7559455" y="2263414"/>
            <a:ext cx="322920" cy="111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700" dirty="0">
                <a:solidFill>
                  <a:srgbClr val="B9C6E8"/>
                </a:solidFill>
                <a:latin typeface="Arial" pitchFamily="34" charset="0"/>
                <a:cs typeface="Arial" pitchFamily="34" charset="-120"/>
              </a:rPr>
              <a:t>WSS</a:t>
            </a:r>
            <a:endParaRPr lang="en-US" sz="700" dirty="0"/>
          </a:p>
        </p:txBody>
      </p:sp>
      <p:pic>
        <p:nvPicPr>
          <p:cNvPr id="125" name="图片 124" descr="图标&#10;&#10;AI 生成的内容可能不正确。">
            <a:extLst>
              <a:ext uri="{FF2B5EF4-FFF2-40B4-BE49-F238E27FC236}">
                <a16:creationId xmlns:a16="http://schemas.microsoft.com/office/drawing/2014/main" id="{DD855C9B-CE9D-CE4C-9EAF-6730266BA7C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0095" y="2055043"/>
            <a:ext cx="383302" cy="383302"/>
          </a:xfrm>
          <a:prstGeom prst="rect">
            <a:avLst/>
          </a:prstGeom>
        </p:spPr>
      </p:pic>
      <p:sp>
        <p:nvSpPr>
          <p:cNvPr id="126" name="Text 2">
            <a:extLst>
              <a:ext uri="{FF2B5EF4-FFF2-40B4-BE49-F238E27FC236}">
                <a16:creationId xmlns:a16="http://schemas.microsoft.com/office/drawing/2014/main" id="{C30664EC-849D-ABA7-9A00-26BA11BFDB28}"/>
              </a:ext>
            </a:extLst>
          </p:cNvPr>
          <p:cNvSpPr/>
          <p:nvPr/>
        </p:nvSpPr>
        <p:spPr>
          <a:xfrm>
            <a:off x="1361035" y="2160501"/>
            <a:ext cx="984525" cy="188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100" b="1" dirty="0" err="1">
                <a:solidFill>
                  <a:srgbClr val="EAF0FF"/>
                </a:solidFill>
                <a:latin typeface="Arial" pitchFamily="34" charset="0"/>
                <a:cs typeface="Arial" pitchFamily="34" charset="-120"/>
              </a:rPr>
              <a:t>ブラウザ</a:t>
            </a:r>
            <a:endParaRPr lang="en-US" sz="1100" dirty="0"/>
          </a:p>
        </p:txBody>
      </p:sp>
      <p:sp>
        <p:nvSpPr>
          <p:cNvPr id="130" name="Text 18">
            <a:extLst>
              <a:ext uri="{FF2B5EF4-FFF2-40B4-BE49-F238E27FC236}">
                <a16:creationId xmlns:a16="http://schemas.microsoft.com/office/drawing/2014/main" id="{49FF4587-087A-22CE-4CB1-69E0E9B2B1B2}"/>
              </a:ext>
            </a:extLst>
          </p:cNvPr>
          <p:cNvSpPr/>
          <p:nvPr/>
        </p:nvSpPr>
        <p:spPr>
          <a:xfrm>
            <a:off x="8826317" y="3969736"/>
            <a:ext cx="2312070" cy="10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Bef>
                <a:spcPts val="100"/>
              </a:spcBef>
            </a:pPr>
            <a:r>
              <a:rPr lang="en-US" altLang="zh-CN" sz="700" dirty="0">
                <a:solidFill>
                  <a:srgbClr val="B9C6E8"/>
                </a:solidFill>
                <a:latin typeface="Arial" pitchFamily="34" charset="0"/>
                <a:cs typeface="Arial" pitchFamily="34" charset="-120"/>
              </a:rPr>
              <a:t>Spring Boot (App Process)</a:t>
            </a:r>
            <a:r>
              <a:rPr lang="zh-CN" altLang="en-US" sz="700" dirty="0">
                <a:solidFill>
                  <a:srgbClr val="B9C6E8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altLang="zh-CN" sz="700" dirty="0">
                <a:solidFill>
                  <a:srgbClr val="B9C6E8"/>
                </a:solidFill>
                <a:latin typeface="Arial" pitchFamily="34" charset="0"/>
                <a:cs typeface="Arial" pitchFamily="34" charset="-120"/>
              </a:rPr>
              <a:t>/</a:t>
            </a:r>
            <a:r>
              <a:rPr lang="zh-CN" altLang="en-US" sz="700" dirty="0">
                <a:solidFill>
                  <a:srgbClr val="B9C6E8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altLang="zh-CN" sz="700" dirty="0">
                <a:solidFill>
                  <a:srgbClr val="B9C6E8"/>
                </a:solidFill>
                <a:latin typeface="Arial" pitchFamily="34" charset="0"/>
                <a:cs typeface="Arial" pitchFamily="34" charset="-120"/>
              </a:rPr>
              <a:t>Vue 3 (Vite Dev Server)</a:t>
            </a:r>
            <a:endParaRPr lang="en-US" sz="700" dirty="0">
              <a:solidFill>
                <a:srgbClr val="B9C6E8"/>
              </a:solidFill>
              <a:latin typeface="Arial" pitchFamily="34" charset="0"/>
              <a:cs typeface="Arial" pitchFamily="34" charset="-120"/>
            </a:endParaRPr>
          </a:p>
        </p:txBody>
      </p:sp>
      <p:cxnSp>
        <p:nvCxnSpPr>
          <p:cNvPr id="132" name="肘形连接符 131">
            <a:extLst>
              <a:ext uri="{FF2B5EF4-FFF2-40B4-BE49-F238E27FC236}">
                <a16:creationId xmlns:a16="http://schemas.microsoft.com/office/drawing/2014/main" id="{78272689-0125-B364-8947-565A18CD1B22}"/>
              </a:ext>
            </a:extLst>
          </p:cNvPr>
          <p:cNvCxnSpPr>
            <a:cxnSpLocks/>
            <a:endCxn id="49" idx="1"/>
          </p:cNvCxnSpPr>
          <p:nvPr/>
        </p:nvCxnSpPr>
        <p:spPr>
          <a:xfrm rot="16200000" flipH="1">
            <a:off x="7602174" y="4180468"/>
            <a:ext cx="1083538" cy="495214"/>
          </a:xfrm>
          <a:prstGeom prst="bentConnector2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7" name="肘形连接符 136">
            <a:extLst>
              <a:ext uri="{FF2B5EF4-FFF2-40B4-BE49-F238E27FC236}">
                <a16:creationId xmlns:a16="http://schemas.microsoft.com/office/drawing/2014/main" id="{D7FA0D10-327A-7ECA-3910-C486D8921FE5}"/>
              </a:ext>
            </a:extLst>
          </p:cNvPr>
          <p:cNvCxnSpPr>
            <a:stCxn id="69" idx="3"/>
            <a:endCxn id="49" idx="3"/>
          </p:cNvCxnSpPr>
          <p:nvPr/>
        </p:nvCxnSpPr>
        <p:spPr>
          <a:xfrm>
            <a:off x="11035291" y="2699293"/>
            <a:ext cx="17455" cy="2270551"/>
          </a:xfrm>
          <a:prstGeom prst="bentConnector3">
            <a:avLst>
              <a:gd name="adj1" fmla="val 1409653"/>
            </a:avLst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39" name="直线箭头连接符 138">
            <a:extLst>
              <a:ext uri="{FF2B5EF4-FFF2-40B4-BE49-F238E27FC236}">
                <a16:creationId xmlns:a16="http://schemas.microsoft.com/office/drawing/2014/main" id="{339B6413-9BBB-E7F9-A914-90112AFFFA93}"/>
              </a:ext>
            </a:extLst>
          </p:cNvPr>
          <p:cNvCxnSpPr>
            <a:stCxn id="69" idx="2"/>
            <a:endCxn id="44" idx="0"/>
          </p:cNvCxnSpPr>
          <p:nvPr/>
        </p:nvCxnSpPr>
        <p:spPr>
          <a:xfrm>
            <a:off x="9706796" y="2916266"/>
            <a:ext cx="7041" cy="68522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41" name="直线箭头连接符 140">
            <a:extLst>
              <a:ext uri="{FF2B5EF4-FFF2-40B4-BE49-F238E27FC236}">
                <a16:creationId xmlns:a16="http://schemas.microsoft.com/office/drawing/2014/main" id="{5F2B4A71-7E9E-A256-95E5-4C6DAE96D786}"/>
              </a:ext>
            </a:extLst>
          </p:cNvPr>
          <p:cNvCxnSpPr>
            <a:stCxn id="44" idx="2"/>
            <a:endCxn id="49" idx="0"/>
          </p:cNvCxnSpPr>
          <p:nvPr/>
        </p:nvCxnSpPr>
        <p:spPr>
          <a:xfrm>
            <a:off x="9713837" y="4165909"/>
            <a:ext cx="8311" cy="59453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46493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1730">
              <a:alpha val="85000"/>
            </a:srgbClr>
          </a:solidFill>
          <a:ln w="12700">
            <a:solidFill>
              <a:srgbClr val="0F173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全体アーキテクチャ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B9C6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リアルタイム通信・認証・画像ストレージを分離して責務を明確化</a:t>
            </a:r>
            <a:endParaRPr lang="en-US" sz="1400"/>
          </a:p>
        </p:txBody>
      </p:sp>
      <p:pic>
        <p:nvPicPr>
          <p:cNvPr id="5" name="Image 0" descr="/mnt/data/android-chrome-192x1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228600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17220" y="1577340"/>
            <a:ext cx="10972800" cy="452628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A3A61"/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4"/>
          <p:cNvSpPr/>
          <p:nvPr/>
        </p:nvSpPr>
        <p:spPr>
          <a:xfrm>
            <a:off x="1005840" y="1920239"/>
            <a:ext cx="2926080" cy="2590795"/>
          </a:xfrm>
          <a:prstGeom prst="roundRect">
            <a:avLst/>
          </a:prstGeom>
          <a:solidFill>
            <a:srgbClr val="12234A"/>
          </a:solidFill>
          <a:ln w="12700">
            <a:solidFill>
              <a:srgbClr val="2A3A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1005840" y="20116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EAF0FF"/>
                </a:solidFill>
                <a:latin typeface="Yu Gothic" pitchFamily="34" charset="0"/>
                <a:ea typeface="Yu Gothic" pitchFamily="34" charset="-122"/>
              </a:rPr>
              <a:t>Frontend</a:t>
            </a:r>
            <a:endParaRPr lang="en-US" sz="1600"/>
          </a:p>
          <a:p>
            <a:pPr marL="0" indent="0" algn="ctr">
              <a:buNone/>
            </a:pPr>
            <a:r>
              <a:rPr lang="en-US" sz="1600" b="1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Vue 3 / TypeScript / </a:t>
            </a:r>
          </a:p>
          <a:p>
            <a:pPr marL="0" indent="0" algn="ctr">
              <a:buNone/>
            </a:pPr>
            <a:r>
              <a:rPr lang="en-US" sz="1600" b="1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Vite / Element Plus 2.12.x</a:t>
            </a:r>
            <a:endParaRPr lang="en-US" sz="1600"/>
          </a:p>
        </p:txBody>
      </p:sp>
      <p:sp>
        <p:nvSpPr>
          <p:cNvPr id="9" name="Shape 6"/>
          <p:cNvSpPr/>
          <p:nvPr/>
        </p:nvSpPr>
        <p:spPr>
          <a:xfrm>
            <a:off x="4526280" y="1920239"/>
            <a:ext cx="3200400" cy="3893820"/>
          </a:xfrm>
          <a:prstGeom prst="roundRect">
            <a:avLst/>
          </a:prstGeom>
          <a:solidFill>
            <a:srgbClr val="152C55"/>
          </a:solidFill>
          <a:ln w="12700">
            <a:solidFill>
              <a:srgbClr val="2A3A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4526280" y="227457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Backend</a:t>
            </a:r>
            <a:endParaRPr lang="en-US" sz="1600"/>
          </a:p>
          <a:p>
            <a:pPr marL="0" indent="0" algn="ctr">
              <a:buNone/>
            </a:pPr>
            <a:r>
              <a:rPr lang="en-US" sz="1600" b="1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Spring Boot 3/Java 17/</a:t>
            </a:r>
          </a:p>
          <a:p>
            <a:pPr marL="0" indent="0" algn="ctr">
              <a:buNone/>
            </a:pPr>
            <a:r>
              <a:rPr lang="en-US" sz="1600" b="1" err="1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MyBatis</a:t>
            </a:r>
            <a:r>
              <a:rPr lang="en-US" sz="1600" b="1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3.0.3/</a:t>
            </a:r>
            <a:r>
              <a:rPr lang="en-US" altLang="zh-CN" sz="1600" b="1" err="1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jjwt</a:t>
            </a:r>
            <a:r>
              <a:rPr lang="en-US" altLang="zh-CN" sz="1600" b="1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0.11.5</a:t>
            </a:r>
            <a:endParaRPr lang="en-US" sz="1600"/>
          </a:p>
        </p:txBody>
      </p:sp>
      <p:sp>
        <p:nvSpPr>
          <p:cNvPr id="11" name="Shape 8"/>
          <p:cNvSpPr/>
          <p:nvPr/>
        </p:nvSpPr>
        <p:spPr>
          <a:xfrm>
            <a:off x="4571847" y="3451861"/>
            <a:ext cx="3108960" cy="1051560"/>
          </a:xfrm>
          <a:prstGeom prst="roundRect">
            <a:avLst/>
          </a:prstGeom>
          <a:solidFill>
            <a:srgbClr val="102746"/>
          </a:solidFill>
          <a:ln w="12700">
            <a:solidFill>
              <a:srgbClr val="39C6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4526280" y="3616451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WebSocket</a:t>
            </a:r>
            <a:endParaRPr lang="en-US" sz="1300"/>
          </a:p>
          <a:p>
            <a:pPr marL="0" indent="0" algn="ctr">
              <a:buNone/>
            </a:pPr>
            <a:r>
              <a:rPr lang="en-US" sz="1300" b="1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@ServerEndpoint /websocket</a:t>
            </a:r>
            <a:endParaRPr lang="en-US" sz="1300"/>
          </a:p>
        </p:txBody>
      </p:sp>
      <p:sp>
        <p:nvSpPr>
          <p:cNvPr id="13" name="Shape 10"/>
          <p:cNvSpPr/>
          <p:nvPr/>
        </p:nvSpPr>
        <p:spPr>
          <a:xfrm>
            <a:off x="8778240" y="1783080"/>
            <a:ext cx="2377440" cy="1005840"/>
          </a:xfrm>
          <a:prstGeom prst="roundRect">
            <a:avLst/>
          </a:prstGeom>
          <a:solidFill>
            <a:srgbClr val="1A2E3B"/>
          </a:solidFill>
          <a:ln w="12700">
            <a:solidFill>
              <a:srgbClr val="2A3A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8778240" y="192024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Database Server</a:t>
            </a:r>
          </a:p>
          <a:p>
            <a:pPr marL="0" indent="0" algn="ctr">
              <a:buNone/>
            </a:pPr>
            <a:r>
              <a:rPr lang="en-US" sz="1200" b="1" dirty="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MySQL 8.0</a:t>
            </a:r>
            <a:r>
              <a:rPr lang="zh-CN" altLang="en-US" sz="1200" b="1" dirty="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</a:t>
            </a:r>
            <a:r>
              <a:rPr lang="en-US" sz="1200" b="1" dirty="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/</a:t>
            </a:r>
            <a:r>
              <a:rPr lang="zh-CN" altLang="en-US" sz="1200" b="1" dirty="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</a:t>
            </a:r>
            <a:r>
              <a:rPr lang="en-US" sz="1200" b="1" dirty="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Docker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778240" y="2949790"/>
            <a:ext cx="2377440" cy="1005840"/>
          </a:xfrm>
          <a:prstGeom prst="roundRect">
            <a:avLst/>
          </a:prstGeom>
          <a:solidFill>
            <a:srgbClr val="20303C"/>
          </a:solidFill>
          <a:ln w="12700">
            <a:solidFill>
              <a:srgbClr val="2A3A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8698230" y="3048851"/>
            <a:ext cx="25374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OSS(Object Storage Service)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 err="1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MinIO</a:t>
            </a:r>
            <a:r>
              <a:rPr lang="en-US" sz="1300" b="1" dirty="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(S3) /</a:t>
            </a:r>
            <a:r>
              <a:rPr lang="zh-CN" altLang="en-US" sz="1300" b="1" dirty="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</a:t>
            </a:r>
            <a:r>
              <a:rPr lang="en-US" sz="1300" b="1" dirty="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Docker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709161" y="4682489"/>
            <a:ext cx="2872740" cy="914400"/>
          </a:xfrm>
          <a:prstGeom prst="roundRect">
            <a:avLst/>
          </a:prstGeom>
          <a:solidFill>
            <a:srgbClr val="2B2440"/>
          </a:solidFill>
          <a:ln w="12700">
            <a:solidFill>
              <a:srgbClr val="2A3A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5"/>
          <p:cNvSpPr/>
          <p:nvPr/>
        </p:nvSpPr>
        <p:spPr>
          <a:xfrm>
            <a:off x="4663287" y="4866892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Caffeine Cache</a:t>
            </a:r>
            <a:endParaRPr lang="en-US" sz="1200"/>
          </a:p>
          <a:p>
            <a:pPr marL="0" indent="0" algn="ctr">
              <a:buNone/>
            </a:pPr>
            <a:r>
              <a:rPr lang="en-US" sz="1200" b="1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(Access Token/Guest Refresh Token)</a:t>
            </a:r>
            <a:endParaRPr lang="en-US" sz="1200"/>
          </a:p>
        </p:txBody>
      </p:sp>
      <p:sp>
        <p:nvSpPr>
          <p:cNvPr id="19" name="Shape 16"/>
          <p:cNvSpPr/>
          <p:nvPr/>
        </p:nvSpPr>
        <p:spPr>
          <a:xfrm>
            <a:off x="3920490" y="2468880"/>
            <a:ext cx="605790" cy="0"/>
          </a:xfrm>
          <a:prstGeom prst="line">
            <a:avLst/>
          </a:prstGeom>
          <a:noFill/>
          <a:ln w="25400">
            <a:solidFill>
              <a:srgbClr val="1E66F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7"/>
          <p:cNvSpPr/>
          <p:nvPr/>
        </p:nvSpPr>
        <p:spPr>
          <a:xfrm>
            <a:off x="3958395" y="2267924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B9C6E8"/>
                </a:solidFill>
                <a:latin typeface="Yu Gothic" pitchFamily="34" charset="0"/>
                <a:ea typeface="Yu Gothic" pitchFamily="34" charset="-122"/>
              </a:rPr>
              <a:t>HTTP</a:t>
            </a:r>
            <a:endParaRPr lang="en-US" sz="1000"/>
          </a:p>
        </p:txBody>
      </p:sp>
      <p:sp>
        <p:nvSpPr>
          <p:cNvPr id="21" name="Shape 18"/>
          <p:cNvSpPr/>
          <p:nvPr/>
        </p:nvSpPr>
        <p:spPr>
          <a:xfrm>
            <a:off x="3931920" y="2788920"/>
            <a:ext cx="639774" cy="1161288"/>
          </a:xfrm>
          <a:prstGeom prst="line">
            <a:avLst/>
          </a:prstGeom>
          <a:noFill/>
          <a:ln w="25400">
            <a:solidFill>
              <a:srgbClr val="39C6E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9"/>
          <p:cNvSpPr/>
          <p:nvPr/>
        </p:nvSpPr>
        <p:spPr>
          <a:xfrm rot="3686534">
            <a:off x="3824952" y="309171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B9C6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WebSocket</a:t>
            </a:r>
            <a:endParaRPr lang="en-US" sz="1000"/>
          </a:p>
        </p:txBody>
      </p:sp>
      <p:sp>
        <p:nvSpPr>
          <p:cNvPr id="23" name="Shape 20"/>
          <p:cNvSpPr/>
          <p:nvPr/>
        </p:nvSpPr>
        <p:spPr>
          <a:xfrm>
            <a:off x="7680807" y="2281428"/>
            <a:ext cx="1097433" cy="4572"/>
          </a:xfrm>
          <a:prstGeom prst="line">
            <a:avLst/>
          </a:prstGeom>
          <a:noFill/>
          <a:ln w="25400">
            <a:solidFill>
              <a:srgbClr val="1E66F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1"/>
          <p:cNvSpPr/>
          <p:nvPr/>
        </p:nvSpPr>
        <p:spPr>
          <a:xfrm>
            <a:off x="7726374" y="3452710"/>
            <a:ext cx="1051866" cy="0"/>
          </a:xfrm>
          <a:prstGeom prst="line">
            <a:avLst/>
          </a:prstGeom>
          <a:noFill/>
          <a:ln w="25400">
            <a:solidFill>
              <a:srgbClr val="1E66F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3"/>
          <p:cNvSpPr/>
          <p:nvPr/>
        </p:nvSpPr>
        <p:spPr>
          <a:xfrm>
            <a:off x="1171413" y="3376750"/>
            <a:ext cx="2602524" cy="320040"/>
          </a:xfrm>
          <a:prstGeom prst="round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4"/>
          <p:cNvSpPr/>
          <p:nvPr/>
        </p:nvSpPr>
        <p:spPr>
          <a:xfrm>
            <a:off x="997131" y="339503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AccessToken: </a:t>
            </a:r>
            <a:r>
              <a:rPr lang="ja-JP" altLang="en-US" sz="11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</a:rPr>
              <a:t>オンメモリ</a:t>
            </a:r>
            <a:endParaRPr lang="en-US" sz="1100" b="1">
              <a:solidFill>
                <a:srgbClr val="FFFFFF"/>
              </a:solidFill>
              <a:latin typeface="Yu Gothic" pitchFamily="34" charset="0"/>
              <a:ea typeface="Yu Gothic" pitchFamily="34" charset="-122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1171413" y="3760798"/>
            <a:ext cx="2602524" cy="320040"/>
          </a:xfrm>
          <a:prstGeom prst="round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6"/>
          <p:cNvSpPr/>
          <p:nvPr/>
        </p:nvSpPr>
        <p:spPr>
          <a:xfrm>
            <a:off x="997131" y="3779086"/>
            <a:ext cx="292534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 err="1">
                <a:solidFill>
                  <a:srgbClr val="1A1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RefreshToken</a:t>
            </a:r>
            <a:r>
              <a:rPr lang="en-US" sz="1100" b="1" dirty="0">
                <a:solidFill>
                  <a:srgbClr val="1A1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: </a:t>
            </a:r>
            <a:r>
              <a:rPr lang="en-US" sz="1100" b="1" dirty="0" err="1">
                <a:solidFill>
                  <a:srgbClr val="1A1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localStorage</a:t>
            </a:r>
            <a:r>
              <a:rPr lang="zh-CN" altLang="en-US" sz="1100" b="1" dirty="0">
                <a:solidFill>
                  <a:srgbClr val="1A1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</a:t>
            </a:r>
            <a:r>
              <a:rPr lang="en-US" sz="1100" b="1" dirty="0">
                <a:solidFill>
                  <a:srgbClr val="1A1200"/>
                </a:solidFill>
                <a:latin typeface="Yu Gothic" pitchFamily="34" charset="0"/>
                <a:ea typeface="Yu Gothic" pitchFamily="34" charset="-122"/>
              </a:rPr>
              <a:t>+</a:t>
            </a:r>
            <a:r>
              <a:rPr lang="ja-JP" altLang="en-US" sz="1100" b="1">
                <a:solidFill>
                  <a:srgbClr val="1A1200"/>
                </a:solidFill>
                <a:latin typeface="Yu Gothic" pitchFamily="34" charset="0"/>
                <a:ea typeface="Yu Gothic" pitchFamily="34" charset="-122"/>
              </a:rPr>
              <a:t> メモリ </a:t>
            </a:r>
            <a:endParaRPr lang="en-US" sz="1100" b="1" dirty="0">
              <a:solidFill>
                <a:srgbClr val="1A1200"/>
              </a:solidFill>
              <a:latin typeface="Yu Gothic" pitchFamily="34" charset="0"/>
              <a:ea typeface="Yu Gothic" pitchFamily="34" charset="-122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640080" y="6565392"/>
            <a:ext cx="10881360" cy="0"/>
          </a:xfrm>
          <a:prstGeom prst="line">
            <a:avLst/>
          </a:prstGeom>
          <a:noFill/>
          <a:ln w="12700">
            <a:solidFill>
              <a:srgbClr val="2A3A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6">
            <a:extLst>
              <a:ext uri="{FF2B5EF4-FFF2-40B4-BE49-F238E27FC236}">
                <a16:creationId xmlns:a16="http://schemas.microsoft.com/office/drawing/2014/main" id="{EDB97C4F-0EE9-C30B-95A7-23842D865932}"/>
              </a:ext>
            </a:extLst>
          </p:cNvPr>
          <p:cNvSpPr/>
          <p:nvPr/>
        </p:nvSpPr>
        <p:spPr>
          <a:xfrm>
            <a:off x="7860723" y="4027931"/>
            <a:ext cx="3595253" cy="181109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rgbClr val="2A3A61"/>
            </a:solidFill>
            <a:prstDash val="solid"/>
          </a:ln>
        </p:spPr>
        <p:txBody>
          <a:bodyPr/>
          <a:lstStyle/>
          <a:p>
            <a:endParaRPr lang="zh-CN" altLang="en-US">
              <a:highlight>
                <a:srgbClr val="800000"/>
              </a:highlight>
            </a:endParaRPr>
          </a:p>
        </p:txBody>
      </p:sp>
      <p:sp>
        <p:nvSpPr>
          <p:cNvPr id="35" name="Text 13">
            <a:extLst>
              <a:ext uri="{FF2B5EF4-FFF2-40B4-BE49-F238E27FC236}">
                <a16:creationId xmlns:a16="http://schemas.microsoft.com/office/drawing/2014/main" id="{C76EDD02-839E-FCCC-3795-983A53B53354}"/>
              </a:ext>
            </a:extLst>
          </p:cNvPr>
          <p:cNvSpPr/>
          <p:nvPr/>
        </p:nvSpPr>
        <p:spPr>
          <a:xfrm>
            <a:off x="8125038" y="4110227"/>
            <a:ext cx="3049810" cy="17038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 err="1">
                <a:solidFill>
                  <a:srgbClr val="1A1200"/>
                </a:solidFill>
                <a:latin typeface="Yu Gothic" pitchFamily="34" charset="0"/>
                <a:ea typeface="Yu Gothic" pitchFamily="34" charset="-122"/>
              </a:rPr>
              <a:t>開発中の機能</a:t>
            </a:r>
            <a:endParaRPr lang="en-US" sz="1600" b="1" dirty="0">
              <a:solidFill>
                <a:srgbClr val="1A1200"/>
              </a:solidFill>
              <a:latin typeface="Yu Gothic" pitchFamily="34" charset="0"/>
              <a:ea typeface="Yu Gothic" pitchFamily="34" charset="-122"/>
            </a:endParaRPr>
          </a:p>
          <a:p>
            <a:pPr marL="0" indent="0" algn="ctr">
              <a:buNone/>
            </a:pPr>
            <a:endParaRPr lang="en-US" sz="1100" b="1" dirty="0">
              <a:solidFill>
                <a:srgbClr val="1A1200"/>
              </a:solidFill>
              <a:latin typeface="Yu Gothic" pitchFamily="34" charset="0"/>
              <a:ea typeface="Yu Gothic" pitchFamily="34" charset="-122"/>
            </a:endParaRPr>
          </a:p>
          <a:p>
            <a:r>
              <a:rPr lang="zh-CN" altLang="en-US" sz="1100" b="1" dirty="0">
                <a:solidFill>
                  <a:srgbClr val="1A1200"/>
                </a:solidFill>
                <a:latin typeface="Yu Gothic" pitchFamily="34" charset="0"/>
                <a:ea typeface="Yu Gothic" pitchFamily="34" charset="-122"/>
              </a:rPr>
              <a:t>    </a:t>
            </a:r>
            <a:r>
              <a:rPr lang="en-US" altLang="zh-CN" sz="1100" b="1" dirty="0">
                <a:solidFill>
                  <a:srgbClr val="1A1200"/>
                </a:solidFill>
                <a:latin typeface="Yu Gothic" pitchFamily="34" charset="0"/>
                <a:ea typeface="Yu Gothic" pitchFamily="34" charset="-122"/>
              </a:rPr>
              <a:t>Redis </a:t>
            </a:r>
            <a:r>
              <a:rPr lang="ja-JP" altLang="en-US" sz="1100" b="1">
                <a:solidFill>
                  <a:srgbClr val="1A1200"/>
                </a:solidFill>
                <a:latin typeface="Yu Gothic" pitchFamily="34" charset="0"/>
                <a:ea typeface="Yu Gothic" pitchFamily="34" charset="-122"/>
              </a:rPr>
              <a:t>を</a:t>
            </a:r>
            <a:r>
              <a:rPr lang="zh-CN" altLang="en-US" sz="1100" b="1" dirty="0">
                <a:solidFill>
                  <a:srgbClr val="1A1200"/>
                </a:solidFill>
                <a:latin typeface="Yu Gothic" pitchFamily="34" charset="0"/>
                <a:ea typeface="Yu Gothic" pitchFamily="34" charset="-122"/>
              </a:rPr>
              <a:t>導入</a:t>
            </a:r>
            <a:r>
              <a:rPr lang="ja-JP" altLang="en-US" sz="1100" b="1">
                <a:solidFill>
                  <a:srgbClr val="1A1200"/>
                </a:solidFill>
                <a:latin typeface="Yu Gothic" pitchFamily="34" charset="0"/>
                <a:ea typeface="Yu Gothic" pitchFamily="34" charset="-122"/>
              </a:rPr>
              <a:t>し、</a:t>
            </a:r>
            <a:r>
              <a:rPr lang="en-US" altLang="zh-CN" sz="1100" b="1" dirty="0">
                <a:solidFill>
                  <a:srgbClr val="1A1200"/>
                </a:solidFill>
                <a:latin typeface="Yu Gothic" pitchFamily="34" charset="0"/>
                <a:ea typeface="Yu Gothic" pitchFamily="34" charset="-122"/>
              </a:rPr>
              <a:t>Caffeine Cache </a:t>
            </a:r>
            <a:r>
              <a:rPr lang="ja-JP" altLang="en-US" sz="1100" b="1">
                <a:solidFill>
                  <a:srgbClr val="1A1200"/>
                </a:solidFill>
                <a:latin typeface="Yu Gothic" pitchFamily="34" charset="0"/>
                <a:ea typeface="Yu Gothic" pitchFamily="34" charset="-122"/>
              </a:rPr>
              <a:t>に</a:t>
            </a:r>
            <a:r>
              <a:rPr lang="zh-CN" altLang="en-US" sz="1100" b="1" dirty="0">
                <a:solidFill>
                  <a:srgbClr val="1A1200"/>
                </a:solidFill>
                <a:latin typeface="Yu Gothic" pitchFamily="34" charset="0"/>
                <a:ea typeface="Yu Gothic" pitchFamily="34" charset="-122"/>
              </a:rPr>
              <a:t>代</a:t>
            </a:r>
            <a:r>
              <a:rPr lang="ja-JP" altLang="en-US" sz="1100" b="1">
                <a:solidFill>
                  <a:srgbClr val="1A1200"/>
                </a:solidFill>
                <a:latin typeface="Yu Gothic" pitchFamily="34" charset="0"/>
                <a:ea typeface="Yu Gothic" pitchFamily="34" charset="-122"/>
              </a:rPr>
              <a:t>わって</a:t>
            </a:r>
            <a:r>
              <a:rPr lang="zh-CN" altLang="en-US" sz="1100" b="1" dirty="0">
                <a:solidFill>
                  <a:srgbClr val="1A1200"/>
                </a:solidFill>
                <a:latin typeface="Yu Gothic" pitchFamily="34" charset="0"/>
                <a:ea typeface="Yu Gothic" pitchFamily="34" charset="-122"/>
              </a:rPr>
              <a:t> </a:t>
            </a:r>
            <a:r>
              <a:rPr lang="en-US" altLang="ja-JP" sz="1100" b="1" dirty="0">
                <a:solidFill>
                  <a:srgbClr val="1A1200"/>
                </a:solidFill>
                <a:latin typeface="Yu Gothic" pitchFamily="34" charset="0"/>
                <a:ea typeface="Yu Gothic" pitchFamily="34" charset="-122"/>
              </a:rPr>
              <a:t>Token</a:t>
            </a:r>
            <a:r>
              <a:rPr lang="zh-CN" altLang="en-US" sz="1100" b="1" dirty="0">
                <a:solidFill>
                  <a:srgbClr val="1A1200"/>
                </a:solidFill>
                <a:latin typeface="Yu Gothic" pitchFamily="34" charset="0"/>
                <a:ea typeface="Yu Gothic" pitchFamily="34" charset="-122"/>
              </a:rPr>
              <a:t> 類</a:t>
            </a:r>
            <a:r>
              <a:rPr lang="ja-JP" altLang="en-US" sz="1100" b="1">
                <a:solidFill>
                  <a:srgbClr val="1A1200"/>
                </a:solidFill>
                <a:latin typeface="Yu Gothic" pitchFamily="34" charset="0"/>
                <a:ea typeface="Yu Gothic" pitchFamily="34" charset="-122"/>
              </a:rPr>
              <a:t>を</a:t>
            </a:r>
            <a:r>
              <a:rPr lang="zh-CN" altLang="en-US" sz="1100" b="1" dirty="0">
                <a:solidFill>
                  <a:srgbClr val="1A1200"/>
                </a:solidFill>
                <a:latin typeface="Yu Gothic" pitchFamily="34" charset="0"/>
                <a:ea typeface="Yu Gothic" pitchFamily="34" charset="-122"/>
              </a:rPr>
              <a:t>格納</a:t>
            </a:r>
            <a:r>
              <a:rPr lang="ja-JP" altLang="en-US" sz="1100" b="1">
                <a:solidFill>
                  <a:srgbClr val="1A1200"/>
                </a:solidFill>
                <a:latin typeface="Yu Gothic" pitchFamily="34" charset="0"/>
                <a:ea typeface="Yu Gothic" pitchFamily="34" charset="-122"/>
              </a:rPr>
              <a:t>する。あわせて、</a:t>
            </a:r>
            <a:r>
              <a:rPr lang="en-US" altLang="zh-CN" sz="1100" b="1" dirty="0">
                <a:solidFill>
                  <a:srgbClr val="1A1200"/>
                </a:solidFill>
                <a:latin typeface="Yu Gothic" pitchFamily="34" charset="0"/>
                <a:ea typeface="Yu Gothic" pitchFamily="34" charset="-122"/>
              </a:rPr>
              <a:t>Database </a:t>
            </a:r>
            <a:r>
              <a:rPr lang="ja-JP" altLang="en-US" sz="1100" b="1">
                <a:solidFill>
                  <a:srgbClr val="1A1200"/>
                </a:solidFill>
                <a:latin typeface="Yu Gothic" pitchFamily="34" charset="0"/>
                <a:ea typeface="Yu Gothic" pitchFamily="34" charset="-122"/>
              </a:rPr>
              <a:t>の </a:t>
            </a:r>
            <a:r>
              <a:rPr lang="en-US" altLang="zh-CN" sz="1100" b="1" dirty="0">
                <a:solidFill>
                  <a:srgbClr val="1A1200"/>
                </a:solidFill>
                <a:latin typeface="Yu Gothic" pitchFamily="34" charset="0"/>
                <a:ea typeface="Yu Gothic" pitchFamily="34" charset="-122"/>
              </a:rPr>
              <a:t>Read/Write Cache </a:t>
            </a:r>
            <a:r>
              <a:rPr lang="ja-JP" altLang="en-US" sz="1100" b="1">
                <a:solidFill>
                  <a:srgbClr val="1A1200"/>
                </a:solidFill>
                <a:latin typeface="Yu Gothic" pitchFamily="34" charset="0"/>
                <a:ea typeface="Yu Gothic" pitchFamily="34" charset="-122"/>
              </a:rPr>
              <a:t>としても</a:t>
            </a:r>
            <a:r>
              <a:rPr lang="zh-CN" altLang="en-US" sz="1100" b="1" dirty="0">
                <a:solidFill>
                  <a:srgbClr val="1A1200"/>
                </a:solidFill>
                <a:latin typeface="Yu Gothic" pitchFamily="34" charset="0"/>
                <a:ea typeface="Yu Gothic" pitchFamily="34" charset="-122"/>
              </a:rPr>
              <a:t>活用</a:t>
            </a:r>
            <a:r>
              <a:rPr lang="ja-JP" altLang="en-US" sz="1100" b="1">
                <a:solidFill>
                  <a:srgbClr val="1A1200"/>
                </a:solidFill>
                <a:latin typeface="Yu Gothic" pitchFamily="34" charset="0"/>
                <a:ea typeface="Yu Gothic" pitchFamily="34" charset="-122"/>
              </a:rPr>
              <a:t>する。</a:t>
            </a:r>
            <a:endParaRPr lang="en-US" sz="1100" b="1" dirty="0">
              <a:solidFill>
                <a:srgbClr val="1A1200"/>
              </a:solidFill>
              <a:latin typeface="Yu Gothic" pitchFamily="34" charset="0"/>
              <a:ea typeface="Yu Gothic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1730">
              <a:alpha val="85000"/>
            </a:srgbClr>
          </a:solidFill>
          <a:ln w="12700">
            <a:solidFill>
              <a:srgbClr val="0F173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WebSocket </a:t>
            </a:r>
            <a:r>
              <a:rPr lang="en-US" sz="2800" b="1" err="1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選定理由と基本フロ</a:t>
            </a:r>
            <a:r>
              <a:rPr lang="en-US" sz="2800" b="1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ー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B9C6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低遅延な双方向通信 + サーバPush + ACK による送信確定</a:t>
            </a:r>
            <a:endParaRPr lang="en-US" sz="1400"/>
          </a:p>
        </p:txBody>
      </p:sp>
      <p:pic>
        <p:nvPicPr>
          <p:cNvPr id="5" name="Image 0" descr="/mnt/data/android-chrome-192x1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228600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417320"/>
            <a:ext cx="5486400" cy="512064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A3A61"/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868680" y="1676403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HTTP Polling と比較</a:t>
            </a:r>
            <a:endParaRPr lang="en-US" sz="1400"/>
          </a:p>
        </p:txBody>
      </p:sp>
      <p:sp>
        <p:nvSpPr>
          <p:cNvPr id="8" name="Shape 5"/>
          <p:cNvSpPr/>
          <p:nvPr/>
        </p:nvSpPr>
        <p:spPr>
          <a:xfrm>
            <a:off x="868680" y="1984248"/>
            <a:ext cx="5029200" cy="0"/>
          </a:xfrm>
          <a:prstGeom prst="line">
            <a:avLst/>
          </a:prstGeom>
          <a:noFill/>
          <a:ln w="12700">
            <a:solidFill>
              <a:srgbClr val="2A3A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3780396"/>
              </p:ext>
            </p:extLst>
          </p:nvPr>
        </p:nvGraphicFramePr>
        <p:xfrm>
          <a:off x="719015" y="2057400"/>
          <a:ext cx="5316026" cy="2840736"/>
        </p:xfrm>
        <a:graphic>
          <a:graphicData uri="http://schemas.openxmlformats.org/drawingml/2006/table">
            <a:tbl>
              <a:tblPr/>
              <a:tblGrid>
                <a:gridCol w="11953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42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64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項目</a:t>
                      </a:r>
                      <a:endParaRPr lang="en-US" sz="11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HTTP Polling</a:t>
                      </a:r>
                      <a:endParaRPr lang="en-US" sz="11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WebSocket</a:t>
                      </a:r>
                      <a:endParaRPr lang="en-US" sz="11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US" sz="1100" kern="1200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通信形態</a:t>
                      </a:r>
                      <a:endParaRPr lang="en-US" sz="1100" kern="1200">
                        <a:solidFill>
                          <a:srgbClr val="EAF0FF"/>
                        </a:solidFill>
                        <a:latin typeface="Yu Gothic" pitchFamily="34" charset="0"/>
                        <a:ea typeface="Yu Gothic" pitchFamily="34" charset="-122"/>
                        <a:cs typeface="Yu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US" altLang="ja-JP" sz="1100" kern="1200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</a:rPr>
                        <a:t>Request / Response </a:t>
                      </a:r>
                      <a:r>
                        <a:rPr lang="zh-CN" altLang="en-US" sz="1100" kern="1200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</a:rPr>
                        <a:t>型</a:t>
                      </a:r>
                      <a:endParaRPr lang="en-US" altLang="zh-CN" sz="1100" kern="1200">
                        <a:solidFill>
                          <a:srgbClr val="EAF0FF"/>
                        </a:solidFill>
                        <a:latin typeface="Yu Gothic" pitchFamily="34" charset="0"/>
                        <a:ea typeface="Yu Gothic" pitchFamily="34" charset="-122"/>
                      </a:endParaRPr>
                    </a:p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zh-CN" altLang="en-US" sz="1100" kern="1200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</a:rPr>
                        <a:t>（半二重）</a:t>
                      </a:r>
                      <a:endParaRPr lang="en-US" sz="1100" kern="1200">
                        <a:solidFill>
                          <a:srgbClr val="EAF0FF"/>
                        </a:solidFill>
                        <a:latin typeface="Yu Gothic" pitchFamily="34" charset="0"/>
                        <a:ea typeface="Yu Gothic" pitchFamily="34" charset="-122"/>
                        <a:cs typeface="Yu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常時接続（全二重）</a:t>
                      </a:r>
                      <a:endParaRPr lang="en-US" sz="11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遅延</a:t>
                      </a:r>
                      <a:endParaRPr lang="en-US" sz="11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ポーリング間隔に依存</a:t>
                      </a:r>
                      <a:endParaRPr lang="en-US" sz="11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イベント駆動で低遅延</a:t>
                      </a:r>
                      <a:endParaRPr lang="en-US" sz="11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kern="1200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オーバーヘッド</a:t>
                      </a:r>
                      <a:endParaRPr lang="en-US" sz="1100" kern="1200">
                        <a:solidFill>
                          <a:srgbClr val="EAF0FF"/>
                        </a:solidFill>
                        <a:latin typeface="Yu Gothic" pitchFamily="34" charset="0"/>
                        <a:ea typeface="Yu Gothic" pitchFamily="34" charset="-122"/>
                        <a:cs typeface="Yu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ja-JP" altLang="en-US" sz="1100" kern="1200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</a:rPr>
                        <a:t>ヘッダ</a:t>
                      </a:r>
                      <a:r>
                        <a:rPr lang="zh-CN" altLang="en-US" sz="1100" kern="1200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</a:rPr>
                        <a:t>冗長</a:t>
                      </a:r>
                      <a:r>
                        <a:rPr lang="en-US" altLang="zh-CN" sz="1100" kern="1200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</a:rPr>
                        <a:t>/</a:t>
                      </a:r>
                      <a:r>
                        <a:rPr lang="en-US" sz="1100" kern="1200" err="1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無駄リクエスト</a:t>
                      </a:r>
                      <a:endParaRPr lang="en-US" sz="1100" kern="1200">
                        <a:solidFill>
                          <a:srgbClr val="EAF0FF"/>
                        </a:solidFill>
                        <a:latin typeface="Yu Gothic" pitchFamily="34" charset="0"/>
                        <a:ea typeface="Yu Gothic" pitchFamily="34" charset="-122"/>
                        <a:cs typeface="Yu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err="1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ハンドシェイク後は軽量</a:t>
                      </a:r>
                      <a:endParaRPr lang="en-US" sz="11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サーバPush</a:t>
                      </a:r>
                      <a:endParaRPr lang="en-US" sz="11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不可</a:t>
                      </a:r>
                      <a:endParaRPr lang="en-US" sz="11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可能</a:t>
                      </a:r>
                      <a:endParaRPr lang="en-US" sz="11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実装</a:t>
                      </a:r>
                      <a:endParaRPr lang="en-US" sz="11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err="1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簡単</a:t>
                      </a:r>
                      <a:endParaRPr lang="en-US" sz="11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接続管理が必要</a:t>
                      </a:r>
                      <a:endParaRPr lang="en-US" sz="11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zh-CN" sz="1100" err="1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サーバ負荷</a:t>
                      </a:r>
                      <a:endParaRPr lang="en-US" sz="1100" b="1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err="1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  <a:cs typeface="Yu Gothic" charset="0"/>
                        </a:rPr>
                        <a:t>高</a:t>
                      </a:r>
                      <a:endParaRPr lang="en-US" sz="11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kern="1200" err="1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  <a:cs typeface="Yu Gothic" charset="0"/>
                        </a:rPr>
                        <a:t>低</a:t>
                      </a:r>
                      <a:endParaRPr lang="en-US" sz="1100" kern="1200">
                        <a:solidFill>
                          <a:srgbClr val="EAF0FF"/>
                        </a:solidFill>
                        <a:latin typeface="Yu Gothic" pitchFamily="34" charset="0"/>
                        <a:ea typeface="Yu Gothic" pitchFamily="34" charset="-122"/>
                        <a:cs typeface="Yu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9850579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6400800" y="1417320"/>
            <a:ext cx="5212080" cy="512064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A3A61"/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Text 7"/>
          <p:cNvSpPr/>
          <p:nvPr/>
        </p:nvSpPr>
        <p:spPr>
          <a:xfrm>
            <a:off x="6629400" y="1676403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err="1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メッセージ送信</a:t>
            </a:r>
            <a:endParaRPr lang="en-US" sz="1400"/>
          </a:p>
        </p:txBody>
      </p:sp>
      <p:sp>
        <p:nvSpPr>
          <p:cNvPr id="12" name="Shape 8"/>
          <p:cNvSpPr/>
          <p:nvPr/>
        </p:nvSpPr>
        <p:spPr>
          <a:xfrm>
            <a:off x="6629400" y="1975782"/>
            <a:ext cx="4754880" cy="0"/>
          </a:xfrm>
          <a:prstGeom prst="line">
            <a:avLst/>
          </a:prstGeom>
          <a:noFill/>
          <a:ln w="12700">
            <a:solidFill>
              <a:srgbClr val="2A3A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9"/>
          <p:cNvSpPr/>
          <p:nvPr/>
        </p:nvSpPr>
        <p:spPr>
          <a:xfrm>
            <a:off x="6434666" y="22809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Client</a:t>
            </a:r>
            <a:endParaRPr lang="en-US" sz="1200"/>
          </a:p>
        </p:txBody>
      </p:sp>
      <p:sp>
        <p:nvSpPr>
          <p:cNvPr id="14" name="Text 10"/>
          <p:cNvSpPr/>
          <p:nvPr/>
        </p:nvSpPr>
        <p:spPr>
          <a:xfrm>
            <a:off x="8146625" y="22809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Server</a:t>
            </a:r>
            <a:endParaRPr lang="en-US" sz="1200"/>
          </a:p>
        </p:txBody>
      </p:sp>
      <p:sp>
        <p:nvSpPr>
          <p:cNvPr id="15" name="Text 11"/>
          <p:cNvSpPr/>
          <p:nvPr/>
        </p:nvSpPr>
        <p:spPr>
          <a:xfrm>
            <a:off x="9584270" y="2280920"/>
            <a:ext cx="1236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CN" sz="1200" b="1">
                <a:solidFill>
                  <a:srgbClr val="EAF0FF"/>
                </a:solidFill>
                <a:latin typeface="Yu Gothic" pitchFamily="34" charset="0"/>
                <a:ea typeface="Yu Gothic" pitchFamily="34" charset="-122"/>
              </a:rPr>
              <a:t>Other</a:t>
            </a:r>
            <a:r>
              <a:rPr lang="en-US" altLang="zh-CN" sz="1200"/>
              <a:t> </a:t>
            </a:r>
            <a:r>
              <a:rPr lang="en-US" altLang="zh-CN" sz="1200" b="1">
                <a:solidFill>
                  <a:srgbClr val="EAF0FF"/>
                </a:solidFill>
                <a:latin typeface="Yu Gothic" pitchFamily="34" charset="0"/>
                <a:ea typeface="Yu Gothic" pitchFamily="34" charset="-122"/>
              </a:rPr>
              <a:t>Clients</a:t>
            </a:r>
            <a:endParaRPr lang="en-US" sz="1200" b="1">
              <a:solidFill>
                <a:srgbClr val="EAF0FF"/>
              </a:solidFill>
              <a:latin typeface="Yu Gothic" pitchFamily="34" charset="0"/>
              <a:ea typeface="Yu Gothic" pitchFamily="34" charset="-122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6720840" y="2600960"/>
            <a:ext cx="0" cy="3383280"/>
          </a:xfrm>
          <a:prstGeom prst="line">
            <a:avLst/>
          </a:prstGeom>
          <a:noFill/>
          <a:ln w="12700">
            <a:solidFill>
              <a:srgbClr val="2A3A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3"/>
          <p:cNvSpPr/>
          <p:nvPr/>
        </p:nvSpPr>
        <p:spPr>
          <a:xfrm>
            <a:off x="8458200" y="2600960"/>
            <a:ext cx="0" cy="3383280"/>
          </a:xfrm>
          <a:prstGeom prst="line">
            <a:avLst/>
          </a:prstGeom>
          <a:noFill/>
          <a:ln w="12700">
            <a:solidFill>
              <a:srgbClr val="2A3A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4"/>
          <p:cNvSpPr/>
          <p:nvPr/>
        </p:nvSpPr>
        <p:spPr>
          <a:xfrm>
            <a:off x="10195560" y="2600960"/>
            <a:ext cx="0" cy="3383280"/>
          </a:xfrm>
          <a:prstGeom prst="line">
            <a:avLst/>
          </a:prstGeom>
          <a:noFill/>
          <a:ln w="12700">
            <a:solidFill>
              <a:srgbClr val="2A3A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5"/>
          <p:cNvSpPr/>
          <p:nvPr/>
        </p:nvSpPr>
        <p:spPr>
          <a:xfrm>
            <a:off x="6720840" y="2875280"/>
            <a:ext cx="1737360" cy="0"/>
          </a:xfrm>
          <a:prstGeom prst="line">
            <a:avLst/>
          </a:prstGeom>
          <a:noFill/>
          <a:ln w="25400">
            <a:solidFill>
              <a:srgbClr val="39C6E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6"/>
          <p:cNvSpPr/>
          <p:nvPr/>
        </p:nvSpPr>
        <p:spPr>
          <a:xfrm>
            <a:off x="6766560" y="2646679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B9C6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SEND (tempId)</a:t>
            </a:r>
            <a:endParaRPr lang="en-US" sz="1000"/>
          </a:p>
        </p:txBody>
      </p:sp>
      <p:sp>
        <p:nvSpPr>
          <p:cNvPr id="21" name="Shape 17"/>
          <p:cNvSpPr/>
          <p:nvPr/>
        </p:nvSpPr>
        <p:spPr>
          <a:xfrm>
            <a:off x="8458200" y="3332480"/>
            <a:ext cx="1737360" cy="0"/>
          </a:xfrm>
          <a:prstGeom prst="line">
            <a:avLst/>
          </a:prstGeom>
          <a:noFill/>
          <a:ln w="25400">
            <a:solidFill>
              <a:srgbClr val="1E66F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8"/>
          <p:cNvSpPr/>
          <p:nvPr/>
        </p:nvSpPr>
        <p:spPr>
          <a:xfrm>
            <a:off x="8470054" y="312216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B9C6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BROADCAST (seqId)</a:t>
            </a:r>
            <a:endParaRPr lang="en-US" sz="1000"/>
          </a:p>
        </p:txBody>
      </p:sp>
      <p:sp>
        <p:nvSpPr>
          <p:cNvPr id="23" name="Shape 19"/>
          <p:cNvSpPr/>
          <p:nvPr/>
        </p:nvSpPr>
        <p:spPr>
          <a:xfrm>
            <a:off x="6720840" y="3789680"/>
            <a:ext cx="1737360" cy="0"/>
          </a:xfrm>
          <a:prstGeom prst="line">
            <a:avLst/>
          </a:prstGeom>
          <a:noFill/>
          <a:ln w="25400">
            <a:solidFill>
              <a:srgbClr val="3DDC97"/>
            </a:solidFill>
            <a:prstDash val="solid"/>
            <a:headEnd type="triangl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0"/>
          <p:cNvSpPr/>
          <p:nvPr/>
        </p:nvSpPr>
        <p:spPr>
          <a:xfrm>
            <a:off x="6789421" y="35793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B9C6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ACK (tempId→seqId)</a:t>
            </a:r>
            <a:endParaRPr lang="en-US" sz="1000"/>
          </a:p>
        </p:txBody>
      </p:sp>
      <p:graphicFrame>
        <p:nvGraphicFramePr>
          <p:cNvPr id="26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6458519"/>
              </p:ext>
            </p:extLst>
          </p:nvPr>
        </p:nvGraphicFramePr>
        <p:xfrm>
          <a:off x="6720840" y="4981108"/>
          <a:ext cx="4663440" cy="1003131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4377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US" sz="1000" kern="1200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  <a:cs typeface="Yu Gothic" charset="0"/>
                        </a:rPr>
                        <a:t>Code</a:t>
                      </a:r>
                    </a:p>
                  </a:txBody>
                  <a:tcPr>
                    <a:lnL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Type</a:t>
                      </a:r>
                      <a:endParaRPr lang="en-US" sz="10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Data</a:t>
                      </a:r>
                      <a:endParaRPr lang="en-US" sz="10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3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1001</a:t>
                      </a:r>
                      <a:endParaRPr lang="en-US" sz="10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MESSAGE</a:t>
                      </a:r>
                      <a:endParaRPr lang="en-US" sz="10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err="1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チャット内容</a:t>
                      </a:r>
                      <a:r>
                        <a:rPr lang="en-US" sz="1000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(</a:t>
                      </a:r>
                      <a:r>
                        <a:rPr lang="en-US" sz="1000" err="1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tempId付き</a:t>
                      </a:r>
                      <a:r>
                        <a:rPr lang="en-US" sz="1000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)</a:t>
                      </a:r>
                      <a:endParaRPr lang="en-US" sz="10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3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2002</a:t>
                      </a:r>
                      <a:endParaRPr lang="en-US" sz="10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ACK</a:t>
                      </a:r>
                      <a:endParaRPr lang="en-US" sz="10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送信確定（tempId→seqId）</a:t>
                      </a:r>
                      <a:endParaRPr lang="en-US" sz="10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7" name="Shape 22"/>
          <p:cNvSpPr/>
          <p:nvPr/>
        </p:nvSpPr>
        <p:spPr>
          <a:xfrm>
            <a:off x="640080" y="6565392"/>
            <a:ext cx="10881360" cy="0"/>
          </a:xfrm>
          <a:prstGeom prst="line">
            <a:avLst/>
          </a:prstGeom>
          <a:noFill/>
          <a:ln w="12700">
            <a:solidFill>
              <a:srgbClr val="2A3A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3"/>
          <p:cNvSpPr/>
          <p:nvPr/>
        </p:nvSpPr>
        <p:spPr>
          <a:xfrm>
            <a:off x="640080" y="6601968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err="1">
                <a:solidFill>
                  <a:srgbClr val="7F90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WebSocketは「常時接続」でPush可能（サーバ側からの送信や</a:t>
            </a:r>
            <a:r>
              <a:rPr lang="en-US" sz="1000">
                <a:solidFill>
                  <a:srgbClr val="7F90B8"/>
                </a:solidFill>
                <a:latin typeface="Yu Gothic" pitchFamily="34" charset="0"/>
                <a:ea typeface="Yu Gothic" pitchFamily="34" charset="-122"/>
              </a:rPr>
              <a:t>、</a:t>
            </a:r>
            <a:r>
              <a:rPr lang="zh-CN" altLang="en-US" sz="1000">
                <a:solidFill>
                  <a:srgbClr val="7F90B8"/>
                </a:solidFill>
                <a:latin typeface="Yu Gothic" pitchFamily="34" charset="0"/>
                <a:ea typeface="Yu Gothic" pitchFamily="34" charset="-122"/>
              </a:rPr>
              <a:t> 強制</a:t>
            </a:r>
            <a:r>
              <a:rPr lang="ja-JP" altLang="en-US" sz="1000">
                <a:solidFill>
                  <a:srgbClr val="7F90B8"/>
                </a:solidFill>
                <a:latin typeface="Yu Gothic" pitchFamily="34" charset="0"/>
                <a:ea typeface="Yu Gothic" pitchFamily="34" charset="-122"/>
              </a:rPr>
              <a:t>ログアウト</a:t>
            </a:r>
            <a:r>
              <a:rPr lang="zh-CN" altLang="en-US" sz="1000">
                <a:solidFill>
                  <a:srgbClr val="7F90B8"/>
                </a:solidFill>
                <a:latin typeface="Yu Gothic" pitchFamily="34" charset="0"/>
                <a:ea typeface="Yu Gothic" pitchFamily="34" charset="-122"/>
              </a:rPr>
              <a:t>等 </a:t>
            </a:r>
            <a:r>
              <a:rPr lang="en-US" sz="1000">
                <a:solidFill>
                  <a:srgbClr val="7F90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）。ACKでUI上の送信状態を確定。</a:t>
            </a:r>
            <a:endParaRPr lang="en-US" sz="1000"/>
          </a:p>
        </p:txBody>
      </p:sp>
      <p:sp>
        <p:nvSpPr>
          <p:cNvPr id="30" name="Text 21">
            <a:extLst>
              <a:ext uri="{FF2B5EF4-FFF2-40B4-BE49-F238E27FC236}">
                <a16:creationId xmlns:a16="http://schemas.microsoft.com/office/drawing/2014/main" id="{250153B7-ED5A-C648-2AC5-47DA8F01E0B7}"/>
              </a:ext>
            </a:extLst>
          </p:cNvPr>
          <p:cNvSpPr/>
          <p:nvPr/>
        </p:nvSpPr>
        <p:spPr>
          <a:xfrm>
            <a:off x="10218419" y="3198030"/>
            <a:ext cx="102869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EAF0FF"/>
                </a:solidFill>
                <a:latin typeface="Yu Gothic" pitchFamily="34" charset="0"/>
                <a:ea typeface="Yu Gothic" pitchFamily="34" charset="-122"/>
              </a:rPr>
              <a:t>他のユーザ</a:t>
            </a:r>
            <a:endParaRPr lang="en-US" sz="1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1730">
              <a:alpha val="85000"/>
            </a:srgbClr>
          </a:solidFill>
          <a:ln w="12700">
            <a:solidFill>
              <a:srgbClr val="0F173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WebSocket </a:t>
            </a:r>
            <a:r>
              <a:rPr lang="en-US" sz="2800" b="1" err="1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実装ポイント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CN" altLang="en-US" sz="1400">
                <a:solidFill>
                  <a:srgbClr val="B9C6E8"/>
                </a:solidFill>
                <a:latin typeface="Yu Gothic" pitchFamily="34" charset="0"/>
                <a:ea typeface="Yu Gothic" pitchFamily="34" charset="-122"/>
              </a:rPr>
              <a:t>接続・</a:t>
            </a:r>
            <a:r>
              <a:rPr lang="ja-JP" altLang="en-US" sz="1400">
                <a:solidFill>
                  <a:srgbClr val="B9C6E8"/>
                </a:solidFill>
                <a:latin typeface="Yu Gothic" pitchFamily="34" charset="0"/>
                <a:ea typeface="Yu Gothic" pitchFamily="34" charset="-122"/>
              </a:rPr>
              <a:t>ハートビート・</a:t>
            </a:r>
            <a:r>
              <a:rPr lang="en-US" altLang="zh-CN" sz="1400">
                <a:solidFill>
                  <a:srgbClr val="B9C6E8"/>
                </a:solidFill>
                <a:latin typeface="Yu Gothic" pitchFamily="34" charset="0"/>
                <a:ea typeface="Yu Gothic" pitchFamily="34" charset="-122"/>
              </a:rPr>
              <a:t>Presence</a:t>
            </a:r>
            <a:endParaRPr lang="en-US" sz="1400">
              <a:solidFill>
                <a:srgbClr val="B9C6E8"/>
              </a:solidFill>
              <a:latin typeface="Yu Gothic" pitchFamily="34" charset="0"/>
              <a:ea typeface="Yu Gothic" pitchFamily="34" charset="-122"/>
            </a:endParaRPr>
          </a:p>
        </p:txBody>
      </p:sp>
      <p:pic>
        <p:nvPicPr>
          <p:cNvPr id="5" name="Image 0" descr="/mnt/data/android-chrome-192x1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228600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417320"/>
            <a:ext cx="5669280" cy="512064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A3A61"/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868680" y="16002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接続・</a:t>
            </a:r>
            <a:r>
              <a:rPr lang="ja-JP" altLang="en-US" sz="1400"/>
              <a:t> </a:t>
            </a:r>
            <a:r>
              <a:rPr lang="ja-JP" altLang="en-US" sz="1400" b="1">
                <a:solidFill>
                  <a:srgbClr val="EAF0FF"/>
                </a:solidFill>
                <a:latin typeface="Yu Gothic" pitchFamily="34" charset="0"/>
                <a:ea typeface="Yu Gothic" pitchFamily="34" charset="-122"/>
              </a:rPr>
              <a:t>ハートビート</a:t>
            </a:r>
            <a:r>
              <a:rPr lang="ja-JP" altLang="en-US" sz="1400"/>
              <a:t> </a:t>
            </a:r>
            <a:r>
              <a:rPr lang="en-US" sz="1400" b="1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・Presence</a:t>
            </a:r>
            <a:endParaRPr lang="en-US" sz="1400"/>
          </a:p>
        </p:txBody>
      </p:sp>
      <p:sp>
        <p:nvSpPr>
          <p:cNvPr id="8" name="Shape 5"/>
          <p:cNvSpPr/>
          <p:nvPr/>
        </p:nvSpPr>
        <p:spPr>
          <a:xfrm>
            <a:off x="868680" y="1984248"/>
            <a:ext cx="5212080" cy="0"/>
          </a:xfrm>
          <a:prstGeom prst="line">
            <a:avLst/>
          </a:prstGeom>
          <a:noFill/>
          <a:ln w="12700">
            <a:solidFill>
              <a:srgbClr val="2A3A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6"/>
          <p:cNvSpPr/>
          <p:nvPr/>
        </p:nvSpPr>
        <p:spPr>
          <a:xfrm>
            <a:off x="805449" y="2011680"/>
            <a:ext cx="5293599" cy="566928"/>
          </a:xfrm>
          <a:prstGeom prst="roundRect">
            <a:avLst/>
          </a:prstGeom>
          <a:solidFill>
            <a:srgbClr val="0F1E3D"/>
          </a:solidFill>
          <a:ln w="12700">
            <a:solidFill>
              <a:srgbClr val="1E66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848437" y="2084832"/>
            <a:ext cx="47914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1) 接続: ws://.../websocket?token=${accessToken}</a:t>
            </a:r>
            <a:endParaRPr lang="en-US" sz="1200"/>
          </a:p>
        </p:txBody>
      </p:sp>
      <p:sp>
        <p:nvSpPr>
          <p:cNvPr id="11" name="Shape 8"/>
          <p:cNvSpPr/>
          <p:nvPr/>
        </p:nvSpPr>
        <p:spPr>
          <a:xfrm>
            <a:off x="805449" y="2620818"/>
            <a:ext cx="5293599" cy="566928"/>
          </a:xfrm>
          <a:prstGeom prst="roundRect">
            <a:avLst/>
          </a:prstGeom>
          <a:solidFill>
            <a:srgbClr val="0F1E3D"/>
          </a:solidFill>
          <a:ln w="12700">
            <a:solidFill>
              <a:srgbClr val="39C6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856254" y="2717415"/>
            <a:ext cx="47914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2) JWT解析</a:t>
            </a:r>
            <a:r>
              <a:rPr lang="en-US" sz="1200">
                <a:solidFill>
                  <a:srgbClr val="EAF0FF"/>
                </a:solidFill>
                <a:latin typeface="Yu Gothic" pitchFamily="34" charset="0"/>
                <a:ea typeface="Yu Gothic" pitchFamily="34" charset="-122"/>
              </a:rPr>
              <a:t>: </a:t>
            </a:r>
            <a:r>
              <a:rPr lang="en-US" altLang="zh-CN" sz="1200">
                <a:solidFill>
                  <a:srgbClr val="EAF0FF"/>
                </a:solidFill>
                <a:latin typeface="Yu Gothic" pitchFamily="34" charset="0"/>
                <a:ea typeface="Yu Gothic" pitchFamily="34" charset="-122"/>
              </a:rPr>
              <a:t>署名/期限</a:t>
            </a:r>
            <a:r>
              <a:rPr lang="zh-CN" altLang="en-US" sz="1200">
                <a:solidFill>
                  <a:srgbClr val="EAF0FF"/>
                </a:solidFill>
                <a:latin typeface="Yu Gothic" pitchFamily="34" charset="0"/>
                <a:ea typeface="Yu Gothic" pitchFamily="34" charset="-122"/>
              </a:rPr>
              <a:t>の</a:t>
            </a:r>
            <a:r>
              <a:rPr lang="en-US" altLang="zh-CN" sz="1200" err="1">
                <a:solidFill>
                  <a:srgbClr val="EAF0FF"/>
                </a:solidFill>
                <a:latin typeface="Yu Gothic" pitchFamily="34" charset="0"/>
                <a:ea typeface="Yu Gothic" pitchFamily="34" charset="-122"/>
              </a:rPr>
              <a:t>有効性</a:t>
            </a:r>
            <a:r>
              <a:rPr lang="en-US" sz="1200" err="1">
                <a:solidFill>
                  <a:srgbClr val="EAF0FF"/>
                </a:solidFill>
                <a:latin typeface="Yu Gothic" pitchFamily="34" charset="0"/>
                <a:ea typeface="Yu Gothic" pitchFamily="34" charset="-122"/>
              </a:rPr>
              <a:t>を確認</a:t>
            </a:r>
            <a:endParaRPr lang="en-US" sz="1200">
              <a:solidFill>
                <a:srgbClr val="EAF0FF"/>
              </a:solidFill>
              <a:latin typeface="Yu Gothic" pitchFamily="34" charset="0"/>
              <a:ea typeface="Yu Gothic" pitchFamily="34" charset="-122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805449" y="3245576"/>
            <a:ext cx="5293599" cy="566928"/>
          </a:xfrm>
          <a:prstGeom prst="roundRect">
            <a:avLst/>
          </a:prstGeom>
          <a:solidFill>
            <a:srgbClr val="0F1E3D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856252" y="3342173"/>
            <a:ext cx="47914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3) </a:t>
            </a:r>
            <a:r>
              <a:rPr lang="zh-CN" altLang="en-US" sz="1200">
                <a:solidFill>
                  <a:srgbClr val="EAF0FF"/>
                </a:solidFill>
                <a:latin typeface="Yu Gothic" pitchFamily="34" charset="0"/>
                <a:ea typeface="Yu Gothic" pitchFamily="34" charset="-122"/>
              </a:rPr>
              <a:t>整合性確認</a:t>
            </a:r>
            <a:r>
              <a:rPr lang="en-US" altLang="zh-CN" sz="1200">
                <a:solidFill>
                  <a:srgbClr val="EAF0FF"/>
                </a:solidFill>
                <a:latin typeface="Yu Gothic" pitchFamily="34" charset="0"/>
                <a:ea typeface="Yu Gothic" pitchFamily="34" charset="-122"/>
              </a:rPr>
              <a:t>: Caffeine Cache </a:t>
            </a:r>
            <a:r>
              <a:rPr lang="zh-CN" altLang="en-US" sz="1200">
                <a:solidFill>
                  <a:srgbClr val="EAF0FF"/>
                </a:solidFill>
                <a:latin typeface="Yu Gothic" pitchFamily="34" charset="0"/>
                <a:ea typeface="Yu Gothic" pitchFamily="34" charset="-122"/>
              </a:rPr>
              <a:t>内</a:t>
            </a:r>
            <a:r>
              <a:rPr lang="ja-JP" altLang="en-US" sz="1200">
                <a:solidFill>
                  <a:srgbClr val="EAF0FF"/>
                </a:solidFill>
                <a:latin typeface="Yu Gothic" pitchFamily="34" charset="0"/>
                <a:ea typeface="Yu Gothic" pitchFamily="34" charset="-122"/>
              </a:rPr>
              <a:t>の</a:t>
            </a:r>
            <a:r>
              <a:rPr lang="en-US" altLang="ja-JP" sz="1200">
                <a:solidFill>
                  <a:srgbClr val="EAF0FF"/>
                </a:solidFill>
                <a:latin typeface="Yu Gothic" pitchFamily="34" charset="0"/>
                <a:ea typeface="Yu Gothic" pitchFamily="34" charset="-122"/>
              </a:rPr>
              <a:t>Access Token</a:t>
            </a:r>
            <a:r>
              <a:rPr lang="ja-JP" altLang="en-US" sz="1200">
                <a:solidFill>
                  <a:srgbClr val="EAF0FF"/>
                </a:solidFill>
                <a:latin typeface="Yu Gothic" pitchFamily="34" charset="0"/>
                <a:ea typeface="Yu Gothic" pitchFamily="34" charset="-122"/>
              </a:rPr>
              <a:t>と</a:t>
            </a:r>
            <a:r>
              <a:rPr lang="zh-CN" altLang="en-US" sz="1200">
                <a:solidFill>
                  <a:srgbClr val="EAF0FF"/>
                </a:solidFill>
                <a:latin typeface="Yu Gothic" pitchFamily="34" charset="0"/>
                <a:ea typeface="Yu Gothic" pitchFamily="34" charset="-122"/>
              </a:rPr>
              <a:t>照合</a:t>
            </a:r>
            <a:endParaRPr lang="en-US" sz="1200">
              <a:solidFill>
                <a:srgbClr val="EAF0FF"/>
              </a:solidFill>
              <a:latin typeface="Yu Gothic" pitchFamily="34" charset="0"/>
              <a:ea typeface="Yu Gothic" pitchFamily="34" charset="-122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805449" y="3878153"/>
            <a:ext cx="5293599" cy="566928"/>
          </a:xfrm>
          <a:prstGeom prst="roundRect">
            <a:avLst/>
          </a:prstGeom>
          <a:solidFill>
            <a:srgbClr val="0F1E3D"/>
          </a:solidFill>
          <a:ln w="12700">
            <a:solidFill>
              <a:srgbClr val="FFB02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848436" y="3951305"/>
            <a:ext cx="5410121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4) </a:t>
            </a:r>
            <a:r>
              <a:rPr lang="zh-CN" altLang="en-US" sz="1200">
                <a:solidFill>
                  <a:srgbClr val="EAF0FF"/>
                </a:solidFill>
                <a:latin typeface="Yu Gothic" pitchFamily="34" charset="0"/>
                <a:ea typeface="Yu Gothic" pitchFamily="34" charset="-122"/>
              </a:rPr>
              <a:t>配信</a:t>
            </a:r>
            <a:r>
              <a:rPr lang="en-US" altLang="zh-CN" sz="1200">
                <a:solidFill>
                  <a:srgbClr val="EAF0FF"/>
                </a:solidFill>
                <a:latin typeface="Yu Gothic" pitchFamily="34" charset="0"/>
                <a:ea typeface="Yu Gothic" pitchFamily="34" charset="-122"/>
              </a:rPr>
              <a:t>: </a:t>
            </a:r>
            <a:r>
              <a:rPr lang="ja-JP" altLang="en-US" sz="1200">
                <a:solidFill>
                  <a:srgbClr val="EAF0FF"/>
                </a:solidFill>
                <a:latin typeface="Yu Gothic" pitchFamily="34" charset="0"/>
                <a:ea typeface="Yu Gothic" pitchFamily="34" charset="-122"/>
              </a:rPr>
              <a:t>オンライン</a:t>
            </a:r>
            <a:r>
              <a:rPr lang="zh-CN" altLang="en-US" sz="1200">
                <a:solidFill>
                  <a:srgbClr val="EAF0FF"/>
                </a:solidFill>
                <a:latin typeface="Yu Gothic" pitchFamily="34" charset="0"/>
                <a:ea typeface="Yu Gothic" pitchFamily="34" charset="-122"/>
              </a:rPr>
              <a:t>登録 </a:t>
            </a:r>
            <a:r>
              <a:rPr lang="en-US" sz="1200">
                <a:solidFill>
                  <a:srgbClr val="EAF0FF"/>
                </a:solidFill>
                <a:latin typeface="Yu Gothic" pitchFamily="34" charset="0"/>
                <a:ea typeface="Yu Gothic" pitchFamily="34" charset="-122"/>
              </a:rPr>
              <a:t>+ </a:t>
            </a:r>
            <a:r>
              <a:rPr lang="zh-CN" altLang="en-US" sz="1200">
                <a:solidFill>
                  <a:srgbClr val="EAF0FF"/>
                </a:solidFill>
                <a:latin typeface="Yu Gothic" pitchFamily="34" charset="0"/>
                <a:ea typeface="Yu Gothic" pitchFamily="34" charset="-122"/>
              </a:rPr>
              <a:t>配信</a:t>
            </a:r>
            <a:r>
              <a:rPr lang="ja-JP" altLang="en-US" sz="1200">
                <a:solidFill>
                  <a:srgbClr val="EAF0FF"/>
                </a:solidFill>
                <a:latin typeface="Yu Gothic" pitchFamily="34" charset="0"/>
                <a:ea typeface="Yu Gothic" pitchFamily="34" charset="-122"/>
              </a:rPr>
              <a:t>リスト</a:t>
            </a:r>
            <a:r>
              <a:rPr lang="zh-CN" altLang="en-US" sz="1200">
                <a:solidFill>
                  <a:srgbClr val="EAF0FF"/>
                </a:solidFill>
                <a:latin typeface="Yu Gothic" pitchFamily="34" charset="0"/>
                <a:ea typeface="Yu Gothic" pitchFamily="34" charset="-122"/>
              </a:rPr>
              <a:t>取得 </a:t>
            </a:r>
            <a:r>
              <a:rPr lang="en-US" altLang="zh-CN" sz="1200">
                <a:solidFill>
                  <a:srgbClr val="EAF0FF"/>
                </a:solidFill>
                <a:latin typeface="Yu Gothic" pitchFamily="34" charset="0"/>
                <a:ea typeface="Yu Gothic" pitchFamily="34" charset="-122"/>
              </a:rPr>
              <a:t>+ WebSocket </a:t>
            </a:r>
            <a:r>
              <a:rPr lang="ja-JP" altLang="en-US" sz="1200">
                <a:solidFill>
                  <a:srgbClr val="EAF0FF"/>
                </a:solidFill>
                <a:latin typeface="Yu Gothic" pitchFamily="34" charset="0"/>
                <a:ea typeface="Yu Gothic" pitchFamily="34" charset="-122"/>
              </a:rPr>
              <a:t>ブロードキャスト</a:t>
            </a:r>
            <a:endParaRPr lang="en-US" sz="1200">
              <a:solidFill>
                <a:srgbClr val="EAF0FF"/>
              </a:solidFill>
              <a:latin typeface="Yu Gothic" pitchFamily="34" charset="0"/>
              <a:ea typeface="Yu Gothic" pitchFamily="34" charset="-122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805449" y="4479465"/>
            <a:ext cx="5293599" cy="566928"/>
          </a:xfrm>
          <a:prstGeom prst="roundRect">
            <a:avLst/>
          </a:prstGeom>
          <a:solidFill>
            <a:srgbClr val="0F1E3D"/>
          </a:solidFill>
          <a:ln w="12700">
            <a:solidFill>
              <a:srgbClr val="1E66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5"/>
          <p:cNvSpPr/>
          <p:nvPr/>
        </p:nvSpPr>
        <p:spPr>
          <a:xfrm>
            <a:off x="1028190" y="4560435"/>
            <a:ext cx="47914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CN" altLang="en-US" sz="1200">
                <a:solidFill>
                  <a:srgbClr val="EAF0FF"/>
                </a:solidFill>
                <a:latin typeface="Yu Gothic" pitchFamily="34" charset="0"/>
                <a:ea typeface="Yu Gothic" pitchFamily="34" charset="-122"/>
              </a:rPr>
              <a:t>切断時 </a:t>
            </a:r>
            <a:r>
              <a:rPr lang="en-US" altLang="zh-CN" sz="1200">
                <a:solidFill>
                  <a:srgbClr val="EAF0FF"/>
                </a:solidFill>
                <a:latin typeface="Yu Gothic" pitchFamily="34" charset="0"/>
                <a:ea typeface="Yu Gothic" pitchFamily="34" charset="-122"/>
              </a:rPr>
              <a:t>(</a:t>
            </a:r>
            <a:r>
              <a:rPr lang="en-US" altLang="zh-CN" sz="1200" err="1">
                <a:solidFill>
                  <a:srgbClr val="EAF0FF"/>
                </a:solidFill>
                <a:latin typeface="Yu Gothic" pitchFamily="34" charset="0"/>
                <a:ea typeface="Yu Gothic" pitchFamily="34" charset="-122"/>
              </a:rPr>
              <a:t>OnClose</a:t>
            </a:r>
            <a:r>
              <a:rPr lang="en-US" altLang="zh-CN" sz="1200">
                <a:solidFill>
                  <a:srgbClr val="EAF0FF"/>
                </a:solidFill>
                <a:latin typeface="Yu Gothic" pitchFamily="34" charset="0"/>
                <a:ea typeface="Yu Gothic" pitchFamily="34" charset="-122"/>
              </a:rPr>
              <a:t>) </a:t>
            </a:r>
            <a:r>
              <a:rPr lang="en-US" sz="1200">
                <a:solidFill>
                  <a:srgbClr val="EAF0FF"/>
                </a:solidFill>
                <a:latin typeface="Yu Gothic" pitchFamily="34" charset="0"/>
                <a:ea typeface="Yu Gothic" pitchFamily="34" charset="-122"/>
              </a:rPr>
              <a:t>：30</a:t>
            </a:r>
            <a:r>
              <a:rPr lang="en-US" sz="120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秒内再接続ならOFFLINE通知を抑制</a:t>
            </a:r>
            <a:endParaRPr lang="en-US" sz="1200"/>
          </a:p>
        </p:txBody>
      </p:sp>
      <p:sp>
        <p:nvSpPr>
          <p:cNvPr id="19" name="Shape 16"/>
          <p:cNvSpPr/>
          <p:nvPr/>
        </p:nvSpPr>
        <p:spPr>
          <a:xfrm>
            <a:off x="805449" y="5140962"/>
            <a:ext cx="5293599" cy="960120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A3A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7"/>
          <p:cNvSpPr/>
          <p:nvPr/>
        </p:nvSpPr>
        <p:spPr>
          <a:xfrm>
            <a:off x="892724" y="5208954"/>
            <a:ext cx="50965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>
                <a:solidFill>
                  <a:srgbClr val="B9C6E8"/>
                </a:solidFill>
                <a:latin typeface="Yu Gothic" pitchFamily="34" charset="0"/>
                <a:ea typeface="Yu Gothic" pitchFamily="34" charset="-122"/>
              </a:rPr>
              <a:t>ハートビート </a:t>
            </a:r>
            <a:r>
              <a:rPr lang="en-US" altLang="ja-JP" sz="1100">
                <a:solidFill>
                  <a:srgbClr val="B9C6E8"/>
                </a:solidFill>
                <a:latin typeface="Yu Gothic" pitchFamily="34" charset="0"/>
                <a:ea typeface="Yu Gothic" pitchFamily="34" charset="-122"/>
              </a:rPr>
              <a:t>(</a:t>
            </a:r>
            <a:r>
              <a:rPr lang="en-US" altLang="zh-CN" sz="1100">
                <a:solidFill>
                  <a:srgbClr val="B9C6E8"/>
                </a:solidFill>
                <a:latin typeface="Yu Gothic" pitchFamily="34" charset="0"/>
                <a:ea typeface="Yu Gothic" pitchFamily="34" charset="-122"/>
              </a:rPr>
              <a:t>Heartbeat) </a:t>
            </a:r>
            <a:r>
              <a:rPr lang="en-US" sz="1100">
                <a:solidFill>
                  <a:srgbClr val="B9C6E8"/>
                </a:solidFill>
                <a:latin typeface="Yu Gothic" pitchFamily="34" charset="0"/>
                <a:ea typeface="Yu Gothic" pitchFamily="34" charset="-122"/>
              </a:rPr>
              <a:t>: Client→“PING”(</a:t>
            </a:r>
            <a:r>
              <a:rPr lang="zh-CN" altLang="en-US" sz="1100">
                <a:solidFill>
                  <a:srgbClr val="B9C6E8"/>
                </a:solidFill>
                <a:latin typeface="Yu Gothic" pitchFamily="34" charset="0"/>
                <a:ea typeface="Yu Gothic" pitchFamily="34" charset="-122"/>
              </a:rPr>
              <a:t> </a:t>
            </a:r>
            <a:r>
              <a:rPr lang="en-US" sz="1100">
                <a:solidFill>
                  <a:srgbClr val="B9C6E8"/>
                </a:solidFill>
                <a:latin typeface="Yu Gothic" pitchFamily="34" charset="0"/>
                <a:ea typeface="Yu Gothic" pitchFamily="34" charset="-122"/>
              </a:rPr>
              <a:t>+</a:t>
            </a:r>
            <a:r>
              <a:rPr lang="zh-CN" altLang="en-US" sz="1100">
                <a:solidFill>
                  <a:srgbClr val="B9C6E8"/>
                </a:solidFill>
                <a:latin typeface="Yu Gothic" pitchFamily="34" charset="0"/>
                <a:ea typeface="Yu Gothic" pitchFamily="34" charset="-122"/>
              </a:rPr>
              <a:t> </a:t>
            </a:r>
            <a:r>
              <a:rPr lang="en-US" sz="1100">
                <a:solidFill>
                  <a:srgbClr val="B9C6E8"/>
                </a:solidFill>
                <a:latin typeface="Yu Gothic" pitchFamily="34" charset="0"/>
                <a:ea typeface="Yu Gothic" pitchFamily="34" charset="-122"/>
              </a:rPr>
              <a:t>chatCode</a:t>
            </a:r>
            <a:r>
              <a:rPr lang="zh-CN" altLang="en-US" sz="1100">
                <a:solidFill>
                  <a:srgbClr val="B9C6E8"/>
                </a:solidFill>
                <a:latin typeface="Yu Gothic" pitchFamily="34" charset="0"/>
                <a:ea typeface="Yu Gothic" pitchFamily="34" charset="-122"/>
              </a:rPr>
              <a:t>？</a:t>
            </a:r>
            <a:r>
              <a:rPr lang="en-US" sz="1100">
                <a:solidFill>
                  <a:srgbClr val="B9C6E8"/>
                </a:solidFill>
                <a:latin typeface="Yu Gothic" pitchFamily="34" charset="0"/>
                <a:ea typeface="Yu Gothic" pitchFamily="34" charset="-122"/>
              </a:rPr>
              <a:t>) / Server→"PONG"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>
                <a:solidFill>
                  <a:srgbClr val="B9C6E8"/>
                </a:solidFill>
                <a:latin typeface="Yu Gothic" pitchFamily="34" charset="0"/>
                <a:ea typeface="Yu Gothic" pitchFamily="34" charset="-122"/>
              </a:rPr>
              <a:t>chatCode</a:t>
            </a:r>
            <a:r>
              <a:rPr lang="zh-CN" altLang="en-US" sz="1100">
                <a:solidFill>
                  <a:srgbClr val="B9C6E8"/>
                </a:solidFill>
                <a:latin typeface="Yu Gothic" pitchFamily="34" charset="0"/>
                <a:ea typeface="Yu Gothic" pitchFamily="34" charset="-122"/>
              </a:rPr>
              <a:t> 存在時</a:t>
            </a:r>
            <a:r>
              <a:rPr lang="ja-JP" altLang="en-US" sz="1100">
                <a:solidFill>
                  <a:srgbClr val="B9C6E8"/>
                </a:solidFill>
                <a:latin typeface="Yu Gothic" pitchFamily="34" charset="0"/>
                <a:ea typeface="Yu Gothic" pitchFamily="34" charset="-122"/>
              </a:rPr>
              <a:t>のみ</a:t>
            </a:r>
            <a:r>
              <a:rPr lang="en-US" sz="1100">
                <a:solidFill>
                  <a:srgbClr val="B9C6E8"/>
                </a:solidFill>
                <a:latin typeface="Yu Gothic" pitchFamily="34" charset="0"/>
                <a:ea typeface="Yu Gothic" pitchFamily="34" charset="-122"/>
              </a:rPr>
              <a:t> currentChatCode を更新（</a:t>
            </a:r>
            <a:r>
              <a:rPr lang="zh-CN" altLang="en-US" sz="1100">
                <a:solidFill>
                  <a:srgbClr val="B9C6E8"/>
                </a:solidFill>
                <a:latin typeface="Yu Gothic" pitchFamily="34" charset="0"/>
                <a:ea typeface="Yu Gothic" pitchFamily="34" charset="-122"/>
              </a:rPr>
              <a:t> 各</a:t>
            </a:r>
            <a:r>
              <a:rPr lang="ja-JP" altLang="en-US" sz="1100">
                <a:solidFill>
                  <a:srgbClr val="B9C6E8"/>
                </a:solidFill>
                <a:latin typeface="Yu Gothic" pitchFamily="34" charset="0"/>
                <a:ea typeface="Yu Gothic" pitchFamily="34" charset="-122"/>
              </a:rPr>
              <a:t>ユーザ・</a:t>
            </a:r>
            <a:r>
              <a:rPr lang="zh-CN" altLang="en-US" sz="1100">
                <a:solidFill>
                  <a:srgbClr val="B9C6E8"/>
                </a:solidFill>
                <a:latin typeface="Yu Gothic" pitchFamily="34" charset="0"/>
                <a:ea typeface="Yu Gothic" pitchFamily="34" charset="-122"/>
              </a:rPr>
              <a:t>各</a:t>
            </a:r>
            <a:r>
              <a:rPr lang="ja-JP" altLang="en-US" sz="1100">
                <a:solidFill>
                  <a:srgbClr val="B9C6E8"/>
                </a:solidFill>
                <a:latin typeface="Yu Gothic" pitchFamily="34" charset="0"/>
                <a:ea typeface="Yu Gothic" pitchFamily="34" charset="-122"/>
              </a:rPr>
              <a:t>ルームの </a:t>
            </a:r>
            <a:r>
              <a:rPr lang="en-US" altLang="ja-JP" sz="1100" err="1">
                <a:solidFill>
                  <a:srgbClr val="B9C6E8"/>
                </a:solidFill>
                <a:latin typeface="Yu Gothic" pitchFamily="34" charset="0"/>
                <a:ea typeface="Yu Gothic" pitchFamily="34" charset="-122"/>
              </a:rPr>
              <a:t>l</a:t>
            </a:r>
            <a:r>
              <a:rPr lang="en-US" altLang="zh-CN" sz="1100" err="1">
                <a:solidFill>
                  <a:srgbClr val="B9C6E8"/>
                </a:solidFill>
                <a:latin typeface="Yu Gothic" pitchFamily="34" charset="0"/>
                <a:ea typeface="Yu Gothic" pitchFamily="34" charset="-122"/>
              </a:rPr>
              <a:t>astSeenAt</a:t>
            </a:r>
            <a:r>
              <a:rPr lang="en-US" altLang="zh-CN" sz="1100">
                <a:solidFill>
                  <a:srgbClr val="B9C6E8"/>
                </a:solidFill>
                <a:latin typeface="Yu Gothic" pitchFamily="34" charset="0"/>
                <a:ea typeface="Yu Gothic" pitchFamily="34" charset="-122"/>
              </a:rPr>
              <a:t> </a:t>
            </a:r>
            <a:r>
              <a:rPr lang="zh-CN" altLang="en-US" sz="1100">
                <a:solidFill>
                  <a:srgbClr val="B9C6E8"/>
                </a:solidFill>
                <a:latin typeface="Yu Gothic" pitchFamily="34" charset="0"/>
                <a:ea typeface="Yu Gothic" pitchFamily="34" charset="-122"/>
              </a:rPr>
              <a:t>更新用 </a:t>
            </a:r>
            <a:r>
              <a:rPr lang="en-US" sz="1100">
                <a:solidFill>
                  <a:srgbClr val="B9C6E8"/>
                </a:solidFill>
                <a:latin typeface="Yu Gothic" pitchFamily="34" charset="0"/>
                <a:ea typeface="Yu Gothic" pitchFamily="34" charset="-122"/>
              </a:rPr>
              <a:t>）</a:t>
            </a:r>
          </a:p>
        </p:txBody>
      </p:sp>
      <p:sp>
        <p:nvSpPr>
          <p:cNvPr id="21" name="Shape 18"/>
          <p:cNvSpPr/>
          <p:nvPr/>
        </p:nvSpPr>
        <p:spPr>
          <a:xfrm>
            <a:off x="6492240" y="1417320"/>
            <a:ext cx="5120640" cy="512064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A3A61"/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9"/>
          <p:cNvSpPr/>
          <p:nvPr/>
        </p:nvSpPr>
        <p:spPr>
          <a:xfrm>
            <a:off x="6720840" y="16002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メッセージ種別とデバウンス</a:t>
            </a:r>
            <a:endParaRPr lang="en-US" sz="1400"/>
          </a:p>
        </p:txBody>
      </p:sp>
      <p:sp>
        <p:nvSpPr>
          <p:cNvPr id="23" name="Shape 20"/>
          <p:cNvSpPr/>
          <p:nvPr/>
        </p:nvSpPr>
        <p:spPr>
          <a:xfrm>
            <a:off x="6720840" y="1984248"/>
            <a:ext cx="4663440" cy="0"/>
          </a:xfrm>
          <a:prstGeom prst="line">
            <a:avLst/>
          </a:prstGeom>
          <a:noFill/>
          <a:ln w="12700">
            <a:solidFill>
              <a:srgbClr val="2A3A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1"/>
          <p:cNvSpPr/>
          <p:nvPr/>
        </p:nvSpPr>
        <p:spPr>
          <a:xfrm>
            <a:off x="6720840" y="2143763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WSメッセージ（WebSocketResult）</a:t>
            </a:r>
            <a:endParaRPr lang="en-US" sz="120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8925046"/>
              </p:ext>
            </p:extLst>
          </p:nvPr>
        </p:nvGraphicFramePr>
        <p:xfrm>
          <a:off x="6720840" y="2463803"/>
          <a:ext cx="4663440" cy="150876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Code</a:t>
                      </a:r>
                      <a:endParaRPr lang="en-US" sz="10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Type</a:t>
                      </a:r>
                      <a:endParaRPr lang="en-US" sz="10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Data</a:t>
                      </a:r>
                      <a:endParaRPr lang="en-US" sz="10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2001</a:t>
                      </a:r>
                      <a:endParaRPr lang="en-US" sz="10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USER_STATUS</a:t>
                      </a:r>
                      <a:endParaRPr lang="en-US" sz="10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uid/online/at</a:t>
                      </a:r>
                      <a:endParaRPr lang="en-US" sz="10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1001</a:t>
                      </a:r>
                      <a:endParaRPr lang="en-US" sz="10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MESSAGE</a:t>
                      </a:r>
                      <a:endParaRPr lang="en-US" sz="10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uid/chatCode/seqId/text/images</a:t>
                      </a:r>
                      <a:endParaRPr lang="en-US" sz="10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2002</a:t>
                      </a:r>
                      <a:endParaRPr lang="en-US" sz="10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ACK</a:t>
                      </a:r>
                      <a:endParaRPr lang="en-US" sz="10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tempId, seqId</a:t>
                      </a:r>
                      <a:endParaRPr lang="en-US" sz="10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8075033"/>
                  </a:ext>
                </a:extLst>
              </a:tr>
            </a:tbl>
          </a:graphicData>
        </a:graphic>
      </p:graphicFrame>
      <p:sp>
        <p:nvSpPr>
          <p:cNvPr id="26" name="Text 22"/>
          <p:cNvSpPr/>
          <p:nvPr/>
        </p:nvSpPr>
        <p:spPr>
          <a:xfrm>
            <a:off x="6720840" y="4218347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Presence デバウンス（30秒）</a:t>
            </a:r>
            <a:endParaRPr lang="en-US" sz="1200"/>
          </a:p>
        </p:txBody>
      </p:sp>
      <p:sp>
        <p:nvSpPr>
          <p:cNvPr id="27" name="Shape 23"/>
          <p:cNvSpPr/>
          <p:nvPr/>
        </p:nvSpPr>
        <p:spPr>
          <a:xfrm>
            <a:off x="6812280" y="4713455"/>
            <a:ext cx="4480560" cy="0"/>
          </a:xfrm>
          <a:prstGeom prst="line">
            <a:avLst/>
          </a:prstGeom>
          <a:noFill/>
          <a:ln w="25400">
            <a:solidFill>
              <a:srgbClr val="2A3A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4"/>
          <p:cNvSpPr/>
          <p:nvPr/>
        </p:nvSpPr>
        <p:spPr>
          <a:xfrm>
            <a:off x="6848856" y="4658591"/>
            <a:ext cx="109728" cy="109728"/>
          </a:xfrm>
          <a:prstGeom prst="ellipse">
            <a:avLst/>
          </a:prstGeom>
          <a:solidFill>
            <a:srgbClr val="39C6E6"/>
          </a:solidFill>
          <a:ln w="12700">
            <a:solidFill>
              <a:srgbClr val="39C6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5"/>
          <p:cNvSpPr/>
          <p:nvPr/>
        </p:nvSpPr>
        <p:spPr>
          <a:xfrm>
            <a:off x="8769096" y="4658591"/>
            <a:ext cx="109728" cy="109728"/>
          </a:xfrm>
          <a:prstGeom prst="ellipse">
            <a:avLst/>
          </a:prstGeom>
          <a:solidFill>
            <a:srgbClr val="39C6E6"/>
          </a:solidFill>
          <a:ln w="12700">
            <a:solidFill>
              <a:srgbClr val="39C6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6"/>
          <p:cNvSpPr/>
          <p:nvPr/>
        </p:nvSpPr>
        <p:spPr>
          <a:xfrm>
            <a:off x="11100816" y="4658591"/>
            <a:ext cx="109728" cy="109728"/>
          </a:xfrm>
          <a:prstGeom prst="ellipse">
            <a:avLst/>
          </a:prstGeom>
          <a:solidFill>
            <a:srgbClr val="39C6E6"/>
          </a:solidFill>
          <a:ln w="12700">
            <a:solidFill>
              <a:srgbClr val="39C6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7"/>
          <p:cNvSpPr/>
          <p:nvPr/>
        </p:nvSpPr>
        <p:spPr>
          <a:xfrm>
            <a:off x="6720840" y="4804895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B9C6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切断</a:t>
            </a:r>
            <a:endParaRPr lang="en-US" sz="1000"/>
          </a:p>
        </p:txBody>
      </p:sp>
      <p:sp>
        <p:nvSpPr>
          <p:cNvPr id="32" name="Text 28"/>
          <p:cNvSpPr/>
          <p:nvPr/>
        </p:nvSpPr>
        <p:spPr>
          <a:xfrm>
            <a:off x="8321040" y="4804895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B9C6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再接続(≤30s)</a:t>
            </a:r>
            <a:endParaRPr lang="en-US" sz="1000"/>
          </a:p>
        </p:txBody>
      </p:sp>
      <p:sp>
        <p:nvSpPr>
          <p:cNvPr id="33" name="Text 29"/>
          <p:cNvSpPr/>
          <p:nvPr/>
        </p:nvSpPr>
        <p:spPr>
          <a:xfrm>
            <a:off x="10607040" y="4804895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B9C6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30s経過</a:t>
            </a:r>
            <a:endParaRPr lang="en-US" sz="1000"/>
          </a:p>
        </p:txBody>
      </p:sp>
      <p:sp>
        <p:nvSpPr>
          <p:cNvPr id="34" name="Shape 30"/>
          <p:cNvSpPr/>
          <p:nvPr/>
        </p:nvSpPr>
        <p:spPr>
          <a:xfrm>
            <a:off x="6812280" y="5233181"/>
            <a:ext cx="4480560" cy="777240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A3A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1"/>
          <p:cNvSpPr/>
          <p:nvPr/>
        </p:nvSpPr>
        <p:spPr>
          <a:xfrm>
            <a:off x="6995160" y="5324618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B9C6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30秒バッファ中は OFFLINE 通知を保留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B9C6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期間内に復帰すれば誤検知を防止</a:t>
            </a:r>
            <a:endParaRPr lang="en-US" sz="1100"/>
          </a:p>
        </p:txBody>
      </p:sp>
      <p:sp>
        <p:nvSpPr>
          <p:cNvPr id="36" name="Shape 32"/>
          <p:cNvSpPr/>
          <p:nvPr/>
        </p:nvSpPr>
        <p:spPr>
          <a:xfrm>
            <a:off x="640080" y="6565392"/>
            <a:ext cx="10881360" cy="0"/>
          </a:xfrm>
          <a:prstGeom prst="line">
            <a:avLst/>
          </a:prstGeom>
          <a:noFill/>
          <a:ln w="12700">
            <a:solidFill>
              <a:srgbClr val="2A3A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1730">
              <a:alpha val="85000"/>
            </a:srgbClr>
          </a:solidFill>
          <a:ln w="12700">
            <a:solidFill>
              <a:srgbClr val="0F173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Dual Token </a:t>
            </a:r>
            <a:r>
              <a:rPr lang="en-US" sz="2800" b="1" err="1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機能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B9C6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短命Accessで頻繁更新、長命Refreshで再ログインを減らす</a:t>
            </a:r>
            <a:endParaRPr lang="en-US" sz="1400"/>
          </a:p>
        </p:txBody>
      </p:sp>
      <p:pic>
        <p:nvPicPr>
          <p:cNvPr id="5" name="Image 0" descr="/mnt/data/android-chrome-192x1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228600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417320"/>
            <a:ext cx="10972800" cy="512064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A3A61"/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868680" y="16002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AccessToken / RefreshToken の役割分担</a:t>
            </a:r>
            <a:endParaRPr lang="en-US" sz="1400"/>
          </a:p>
        </p:txBody>
      </p:sp>
      <p:sp>
        <p:nvSpPr>
          <p:cNvPr id="8" name="Shape 5"/>
          <p:cNvSpPr/>
          <p:nvPr/>
        </p:nvSpPr>
        <p:spPr>
          <a:xfrm>
            <a:off x="868680" y="1984248"/>
            <a:ext cx="10515600" cy="0"/>
          </a:xfrm>
          <a:prstGeom prst="line">
            <a:avLst/>
          </a:prstGeom>
          <a:noFill/>
          <a:ln w="12700">
            <a:solidFill>
              <a:srgbClr val="2A3A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383731"/>
              </p:ext>
            </p:extLst>
          </p:nvPr>
        </p:nvGraphicFramePr>
        <p:xfrm>
          <a:off x="914400" y="2057400"/>
          <a:ext cx="10424160" cy="288036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1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1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項目</a:t>
                      </a:r>
                      <a:endParaRPr lang="en-US" sz="12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AccessToken</a:t>
                      </a:r>
                      <a:endParaRPr lang="en-US" sz="12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RefreshToken</a:t>
                      </a:r>
                      <a:endParaRPr lang="en-US" sz="12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有効期限</a:t>
                      </a:r>
                      <a:endParaRPr lang="en-US" sz="12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5分（設定可能）</a:t>
                      </a:r>
                      <a:endParaRPr lang="en-US" sz="12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7日（設定可能）</a:t>
                      </a:r>
                      <a:endParaRPr lang="en-US" sz="12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用途</a:t>
                      </a:r>
                      <a:endParaRPr lang="en-US" sz="12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API/WS の認可</a:t>
                      </a:r>
                      <a:endParaRPr lang="en-US" sz="12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AccessToken </a:t>
                      </a:r>
                      <a:r>
                        <a:rPr lang="en-US" sz="1200" err="1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の再発行のみ</a:t>
                      </a:r>
                      <a:endParaRPr lang="en-US" sz="12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ブラウザ保管</a:t>
                      </a:r>
                      <a:endParaRPr lang="en-US" sz="12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メモリのみ（XSS耐性）</a:t>
                      </a:r>
                      <a:endParaRPr lang="en-US" sz="12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localStorage + メモリ</a:t>
                      </a:r>
                      <a:endParaRPr lang="en-US" sz="12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サーバ保管</a:t>
                      </a:r>
                      <a:endParaRPr lang="en-US" sz="12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US" sz="1200" kern="1200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Caffeine（ユーザID→token）</a:t>
                      </a:r>
                      <a:endParaRPr lang="en-US" sz="1200" kern="1200">
                        <a:solidFill>
                          <a:srgbClr val="EAF0FF"/>
                        </a:solidFill>
                        <a:latin typeface="Yu Gothic" pitchFamily="34" charset="0"/>
                        <a:ea typeface="Yu Gothic" pitchFamily="34" charset="-122"/>
                        <a:cs typeface="Yu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zh-CN" altLang="en-US" sz="1200" kern="1200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</a:rPr>
                        <a:t>会員</a:t>
                      </a:r>
                      <a:r>
                        <a:rPr lang="en-US" sz="1200" kern="1200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: Database / </a:t>
                      </a:r>
                      <a:r>
                        <a:rPr lang="ja-JP" altLang="en-US" sz="1200" kern="1200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</a:rPr>
                        <a:t>ゲスト</a:t>
                      </a:r>
                      <a:r>
                        <a:rPr lang="en-US" sz="1200" kern="1200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: Caffeine Cache</a:t>
                      </a:r>
                      <a:endParaRPr lang="en-US" sz="1200" kern="1200">
                        <a:solidFill>
                          <a:srgbClr val="EAF0FF"/>
                        </a:solidFill>
                        <a:latin typeface="Yu Gothic" pitchFamily="34" charset="0"/>
                        <a:ea typeface="Yu Gothic" pitchFamily="34" charset="-122"/>
                        <a:cs typeface="Yu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失効</a:t>
                      </a:r>
                      <a:endParaRPr lang="en-US" sz="12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CN" altLang="en-US" sz="1200" kern="1200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</a:rPr>
                        <a:t>有効期限切</a:t>
                      </a:r>
                      <a:r>
                        <a:rPr lang="ja-JP" altLang="en-US" sz="1200" kern="1200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</a:rPr>
                        <a:t>れ </a:t>
                      </a:r>
                      <a:r>
                        <a:rPr lang="en-US" altLang="ja-JP" sz="1200" kern="1200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</a:rPr>
                        <a:t>+ </a:t>
                      </a:r>
                      <a:r>
                        <a:rPr lang="zh-CN" altLang="en-US" sz="1200" kern="1200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</a:rPr>
                        <a:t>別端末</a:t>
                      </a:r>
                      <a:r>
                        <a:rPr lang="ja-JP" altLang="en-US" sz="1200" kern="1200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</a:rPr>
                        <a:t>ログイン</a:t>
                      </a:r>
                      <a:r>
                        <a:rPr lang="zh-CN" altLang="en-US" sz="1200" kern="1200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</a:rPr>
                        <a:t>時</a:t>
                      </a:r>
                      <a:endParaRPr lang="en-US" sz="1200" kern="1200">
                        <a:solidFill>
                          <a:srgbClr val="EAF0FF"/>
                        </a:solidFill>
                        <a:latin typeface="Yu Gothic" pitchFamily="34" charset="0"/>
                        <a:ea typeface="Yu Gothic" pitchFamily="34" charset="-122"/>
                        <a:cs typeface="Yu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検証失敗なら 401 → logout</a:t>
                      </a:r>
                      <a:endParaRPr lang="en-US" sz="12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ローテーション</a:t>
                      </a:r>
                      <a:endParaRPr lang="en-US" sz="12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—</a:t>
                      </a:r>
                      <a:endParaRPr lang="en-US" sz="12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しない（Accessのみ更新）</a:t>
                      </a:r>
                      <a:endParaRPr lang="en-US" sz="12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914400" y="5148072"/>
            <a:ext cx="10424160" cy="1097280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A3A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7"/>
          <p:cNvSpPr/>
          <p:nvPr/>
        </p:nvSpPr>
        <p:spPr>
          <a:xfrm>
            <a:off x="1097280" y="5266944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>
                <a:solidFill>
                  <a:srgbClr val="B9C6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ポイント：Access </a:t>
            </a:r>
            <a:r>
              <a:rPr lang="en-US" sz="1200" err="1">
                <a:solidFill>
                  <a:srgbClr val="B9C6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を永続化しない（localStorageへ保存しない）</a:t>
            </a:r>
            <a:r>
              <a:rPr lang="en-US" sz="1200" err="1">
                <a:solidFill>
                  <a:srgbClr val="B9C6E8"/>
                </a:solidFill>
                <a:latin typeface="Yu Gothic" pitchFamily="34" charset="0"/>
                <a:ea typeface="Yu Gothic" pitchFamily="34" charset="-122"/>
              </a:rPr>
              <a:t>ことで、XSS</a:t>
            </a:r>
            <a:r>
              <a:rPr lang="zh-CN" altLang="en-US" sz="1200">
                <a:solidFill>
                  <a:srgbClr val="B9C6E8"/>
                </a:solidFill>
                <a:latin typeface="Yu Gothic" pitchFamily="34" charset="0"/>
                <a:ea typeface="Yu Gothic" pitchFamily="34" charset="-122"/>
              </a:rPr>
              <a:t>（</a:t>
            </a:r>
            <a:r>
              <a:rPr lang="en-US" altLang="zh-CN" sz="1200">
                <a:solidFill>
                  <a:srgbClr val="B9C6E8"/>
                </a:solidFill>
                <a:latin typeface="Yu Gothic" pitchFamily="34" charset="0"/>
                <a:ea typeface="Yu Gothic" pitchFamily="34" charset="-122"/>
              </a:rPr>
              <a:t> Cross-Site Scripting </a:t>
            </a:r>
            <a:r>
              <a:rPr lang="zh-CN" altLang="en-US" sz="1200">
                <a:solidFill>
                  <a:srgbClr val="B9C6E8"/>
                </a:solidFill>
                <a:latin typeface="Yu Gothic" pitchFamily="34" charset="0"/>
                <a:ea typeface="Yu Gothic" pitchFamily="34" charset="-122"/>
              </a:rPr>
              <a:t>）</a:t>
            </a:r>
            <a:r>
              <a:rPr lang="en-US" sz="1200" err="1">
                <a:solidFill>
                  <a:srgbClr val="B9C6E8"/>
                </a:solidFill>
                <a:latin typeface="Yu Gothic" pitchFamily="34" charset="0"/>
                <a:ea typeface="Yu Gothic" pitchFamily="34" charset="-122"/>
              </a:rPr>
              <a:t>によ</a:t>
            </a:r>
            <a:r>
              <a:rPr lang="en-US" sz="1200" err="1">
                <a:solidFill>
                  <a:srgbClr val="B9C6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るトークン窃取リスクを低減</a:t>
            </a:r>
            <a:r>
              <a:rPr lang="en-US" sz="1200">
                <a:solidFill>
                  <a:srgbClr val="B9C6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B9C6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※Refresh は利便性重視のため localStorage </a:t>
            </a:r>
            <a:r>
              <a:rPr lang="en-US" sz="1200" err="1">
                <a:solidFill>
                  <a:srgbClr val="B9C6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を併用</a:t>
            </a:r>
            <a:endParaRPr lang="en-US" sz="1200"/>
          </a:p>
        </p:txBody>
      </p:sp>
      <p:sp>
        <p:nvSpPr>
          <p:cNvPr id="12" name="Shape 8"/>
          <p:cNvSpPr/>
          <p:nvPr/>
        </p:nvSpPr>
        <p:spPr>
          <a:xfrm>
            <a:off x="640080" y="6565392"/>
            <a:ext cx="10881360" cy="0"/>
          </a:xfrm>
          <a:prstGeom prst="line">
            <a:avLst/>
          </a:prstGeom>
          <a:noFill/>
          <a:ln w="12700">
            <a:solidFill>
              <a:srgbClr val="2A3A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1730">
              <a:alpha val="85000"/>
            </a:srgbClr>
          </a:solidFill>
          <a:ln w="12700">
            <a:solidFill>
              <a:srgbClr val="0F173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Dual Token（Refresh フロー）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B9C6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401を契機に single-flight で更新し、待機中のリクエストを安全に再送</a:t>
            </a:r>
            <a:endParaRPr lang="en-US" sz="1400"/>
          </a:p>
        </p:txBody>
      </p:sp>
      <p:pic>
        <p:nvPicPr>
          <p:cNvPr id="5" name="Image 0" descr="/mnt/data/android-chrome-192x1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228600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417320"/>
            <a:ext cx="6492240" cy="512064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A3A61"/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868680" y="166272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401 → refresh → retry（概念）</a:t>
            </a:r>
            <a:endParaRPr lang="en-US" sz="1400"/>
          </a:p>
        </p:txBody>
      </p:sp>
      <p:sp>
        <p:nvSpPr>
          <p:cNvPr id="8" name="Shape 5"/>
          <p:cNvSpPr/>
          <p:nvPr/>
        </p:nvSpPr>
        <p:spPr>
          <a:xfrm>
            <a:off x="868680" y="1968618"/>
            <a:ext cx="6035040" cy="0"/>
          </a:xfrm>
          <a:prstGeom prst="line">
            <a:avLst/>
          </a:prstGeom>
          <a:noFill/>
          <a:ln w="12700">
            <a:solidFill>
              <a:srgbClr val="2A3A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749105" y="1990575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Client</a:t>
            </a:r>
            <a:endParaRPr lang="en-US" sz="1200"/>
          </a:p>
        </p:txBody>
      </p:sp>
      <p:sp>
        <p:nvSpPr>
          <p:cNvPr id="10" name="Text 7"/>
          <p:cNvSpPr/>
          <p:nvPr/>
        </p:nvSpPr>
        <p:spPr>
          <a:xfrm>
            <a:off x="3021825" y="1990575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API</a:t>
            </a:r>
            <a:endParaRPr lang="en-US" sz="1200"/>
          </a:p>
        </p:txBody>
      </p:sp>
      <p:sp>
        <p:nvSpPr>
          <p:cNvPr id="11" name="Text 8"/>
          <p:cNvSpPr/>
          <p:nvPr/>
        </p:nvSpPr>
        <p:spPr>
          <a:xfrm>
            <a:off x="5695519" y="2440327"/>
            <a:ext cx="1393607" cy="37624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>
                <a:solidFill>
                  <a:srgbClr val="EAF0FF"/>
                </a:solidFill>
                <a:latin typeface="Yu Gothic" pitchFamily="34" charset="0"/>
                <a:ea typeface="Yu Gothic" pitchFamily="34" charset="-122"/>
              </a:rPr>
              <a:t>①. WebSocketのonline状況List</a:t>
            </a:r>
            <a:r>
              <a:rPr lang="ja-JP" altLang="en-US" sz="1200" b="1">
                <a:solidFill>
                  <a:srgbClr val="EAF0FF"/>
                </a:solidFill>
                <a:latin typeface="Yu Gothic" pitchFamily="34" charset="0"/>
                <a:ea typeface="Yu Gothic" pitchFamily="34" charset="-122"/>
              </a:rPr>
              <a:t> と</a:t>
            </a:r>
            <a:r>
              <a:rPr lang="zh-CN" altLang="en-US" sz="1200" b="1">
                <a:solidFill>
                  <a:srgbClr val="EAF0FF"/>
                </a:solidFill>
                <a:latin typeface="Yu Gothic" pitchFamily="34" charset="0"/>
                <a:ea typeface="Yu Gothic" pitchFamily="34" charset="-122"/>
              </a:rPr>
              <a:t>照合</a:t>
            </a:r>
            <a:r>
              <a:rPr lang="en-US" sz="1200" b="1">
                <a:solidFill>
                  <a:srgbClr val="EAF0FF"/>
                </a:solidFill>
                <a:latin typeface="Yu Gothic" pitchFamily="34" charset="0"/>
                <a:ea typeface="Yu Gothic" pitchFamily="34" charset="-122"/>
              </a:rPr>
              <a:t>,</a:t>
            </a:r>
            <a:r>
              <a:rPr lang="en-US" sz="1200" b="1" err="1">
                <a:solidFill>
                  <a:srgbClr val="EAF0FF"/>
                </a:solidFill>
                <a:latin typeface="Yu Gothic" pitchFamily="34" charset="0"/>
                <a:ea typeface="Yu Gothic" pitchFamily="34" charset="-122"/>
              </a:rPr>
              <a:t>onlinならAccessTokenを発行</a:t>
            </a:r>
            <a:r>
              <a:rPr lang="en-US" sz="1200" b="1">
                <a:solidFill>
                  <a:srgbClr val="EAF0FF"/>
                </a:solidFill>
                <a:latin typeface="Yu Gothic" pitchFamily="34" charset="0"/>
                <a:ea typeface="Yu Gothic" pitchFamily="34" charset="-122"/>
              </a:rPr>
              <a:t>。</a:t>
            </a:r>
          </a:p>
          <a:p>
            <a:pPr marL="0" indent="0">
              <a:buNone/>
            </a:pPr>
            <a:endParaRPr lang="en-US" sz="1200" b="1">
              <a:solidFill>
                <a:srgbClr val="EAF0FF"/>
              </a:solidFill>
              <a:latin typeface="Yu Gothic" pitchFamily="34" charset="0"/>
              <a:ea typeface="Yu Gothic" pitchFamily="34" charset="-122"/>
              <a:cs typeface="Yu Gothic" pitchFamily="34" charset="-120"/>
            </a:endParaRPr>
          </a:p>
          <a:p>
            <a:pPr marL="0" indent="0">
              <a:buNone/>
            </a:pPr>
            <a:endParaRPr lang="en-US" sz="1200" b="1">
              <a:solidFill>
                <a:srgbClr val="EAF0FF"/>
              </a:solidFill>
              <a:latin typeface="Yu Gothic" pitchFamily="34" charset="0"/>
              <a:ea typeface="Yu Gothic" pitchFamily="34" charset="-122"/>
              <a:cs typeface="Yu Gothic" pitchFamily="34" charset="-120"/>
            </a:endParaRPr>
          </a:p>
          <a:p>
            <a:r>
              <a:rPr lang="en-US" altLang="zh-CN" sz="1200" b="1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</a:t>
            </a:r>
            <a:r>
              <a:rPr lang="en-US" altLang="zh-CN" sz="1200" b="1">
                <a:solidFill>
                  <a:srgbClr val="EAF0FF"/>
                </a:solidFill>
                <a:latin typeface="Yu Gothic" pitchFamily="34" charset="0"/>
                <a:ea typeface="Yu Gothic" pitchFamily="34" charset="-122"/>
              </a:rPr>
              <a:t>. WebSocketのoffline</a:t>
            </a:r>
            <a:r>
              <a:rPr lang="zh-CN" altLang="en-US" sz="1200" b="1">
                <a:solidFill>
                  <a:srgbClr val="EAF0FF"/>
                </a:solidFill>
                <a:latin typeface="Yu Gothic" pitchFamily="34" charset="0"/>
                <a:ea typeface="Yu Gothic" pitchFamily="34" charset="-122"/>
              </a:rPr>
              <a:t>の場合は、</a:t>
            </a:r>
            <a:r>
              <a:rPr lang="en-US" altLang="zh-CN" sz="1200" b="1">
                <a:solidFill>
                  <a:srgbClr val="EAF0FF"/>
                </a:solidFill>
                <a:latin typeface="Yu Gothic" pitchFamily="34" charset="0"/>
                <a:ea typeface="Yu Gothic" pitchFamily="34" charset="-122"/>
              </a:rPr>
              <a:t>formal user</a:t>
            </a:r>
            <a:r>
              <a:rPr lang="zh-CN" altLang="en-US" sz="1200" b="1">
                <a:solidFill>
                  <a:srgbClr val="EAF0FF"/>
                </a:solidFill>
                <a:latin typeface="Yu Gothic" pitchFamily="34" charset="0"/>
                <a:ea typeface="Yu Gothic" pitchFamily="34" charset="-122"/>
              </a:rPr>
              <a:t>は</a:t>
            </a:r>
            <a:r>
              <a:rPr lang="en-US" altLang="zh-CN" sz="1200" b="1">
                <a:solidFill>
                  <a:srgbClr val="EAF0FF"/>
                </a:solidFill>
                <a:latin typeface="Yu Gothic" pitchFamily="34" charset="0"/>
                <a:ea typeface="Yu Gothic" pitchFamily="34" charset="-122"/>
              </a:rPr>
              <a:t>Database</a:t>
            </a:r>
            <a:r>
              <a:rPr lang="zh-CN" altLang="en-US" sz="1200" b="1">
                <a:solidFill>
                  <a:srgbClr val="EAF0FF"/>
                </a:solidFill>
                <a:latin typeface="Yu Gothic" pitchFamily="34" charset="0"/>
                <a:ea typeface="Yu Gothic" pitchFamily="34" charset="-122"/>
              </a:rPr>
              <a:t>に</a:t>
            </a:r>
            <a:r>
              <a:rPr lang="en-US" altLang="zh-CN" sz="1200" b="1">
                <a:solidFill>
                  <a:srgbClr val="EAF0FF"/>
                </a:solidFill>
                <a:latin typeface="Yu Gothic" pitchFamily="34" charset="0"/>
                <a:ea typeface="Yu Gothic" pitchFamily="34" charset="-122"/>
              </a:rPr>
              <a:t>照合 </a:t>
            </a:r>
            <a:r>
              <a:rPr lang="zh-CN" altLang="en-US" sz="1200" b="1">
                <a:solidFill>
                  <a:srgbClr val="EAF0FF"/>
                </a:solidFill>
                <a:latin typeface="Yu Gothic" pitchFamily="34" charset="0"/>
                <a:ea typeface="Yu Gothic" pitchFamily="34" charset="-122"/>
              </a:rPr>
              <a:t>、</a:t>
            </a:r>
            <a:r>
              <a:rPr lang="en-US" altLang="zh-CN" sz="1200" b="1">
                <a:solidFill>
                  <a:srgbClr val="EAF0FF"/>
                </a:solidFill>
                <a:latin typeface="Yu Gothic" pitchFamily="34" charset="0"/>
                <a:ea typeface="Yu Gothic" pitchFamily="34" charset="-122"/>
              </a:rPr>
              <a:t>guest user </a:t>
            </a:r>
            <a:r>
              <a:rPr lang="zh-CN" altLang="en-US" sz="1200" b="1">
                <a:solidFill>
                  <a:srgbClr val="EAF0FF"/>
                </a:solidFill>
                <a:latin typeface="Yu Gothic" pitchFamily="34" charset="0"/>
                <a:ea typeface="Yu Gothic" pitchFamily="34" charset="-122"/>
              </a:rPr>
              <a:t>は</a:t>
            </a:r>
            <a:r>
              <a:rPr lang="en-US" altLang="zh-CN" sz="1200" b="1">
                <a:solidFill>
                  <a:srgbClr val="EAF0FF"/>
                </a:solidFill>
                <a:latin typeface="Yu Gothic" pitchFamily="34" charset="0"/>
                <a:ea typeface="Yu Gothic" pitchFamily="34" charset="-122"/>
              </a:rPr>
              <a:t>Caffeine Cache </a:t>
            </a:r>
            <a:r>
              <a:rPr lang="ja-JP" altLang="en-US" sz="1200" b="1">
                <a:solidFill>
                  <a:srgbClr val="EAF0FF"/>
                </a:solidFill>
                <a:latin typeface="Yu Gothic" pitchFamily="34" charset="0"/>
                <a:ea typeface="Yu Gothic" pitchFamily="34" charset="-122"/>
              </a:rPr>
              <a:t>を</a:t>
            </a:r>
            <a:r>
              <a:rPr lang="zh-CN" altLang="en-US" sz="1200" b="1">
                <a:solidFill>
                  <a:srgbClr val="EAF0FF"/>
                </a:solidFill>
                <a:latin typeface="Yu Gothic" pitchFamily="34" charset="0"/>
                <a:ea typeface="Yu Gothic" pitchFamily="34" charset="-122"/>
              </a:rPr>
              <a:t>参照 、</a:t>
            </a:r>
            <a:endParaRPr lang="en-US" altLang="zh-CN" sz="1200" b="1">
              <a:solidFill>
                <a:srgbClr val="EAF0FF"/>
              </a:solidFill>
              <a:latin typeface="Yu Gothic" pitchFamily="34" charset="0"/>
              <a:ea typeface="Yu Gothic" pitchFamily="34" charset="-122"/>
            </a:endParaRPr>
          </a:p>
          <a:p>
            <a:r>
              <a:rPr lang="en-US" altLang="zh-CN" sz="1200" b="1">
                <a:solidFill>
                  <a:srgbClr val="EAF0FF"/>
                </a:solidFill>
                <a:latin typeface="Yu Gothic" pitchFamily="34" charset="0"/>
                <a:ea typeface="Yu Gothic" pitchFamily="34" charset="-122"/>
              </a:rPr>
              <a:t>RefreshToken</a:t>
            </a:r>
            <a:r>
              <a:rPr lang="zh-CN" altLang="en-US" sz="1200" b="1">
                <a:solidFill>
                  <a:srgbClr val="EAF0FF"/>
                </a:solidFill>
                <a:latin typeface="Yu Gothic" pitchFamily="34" charset="0"/>
                <a:ea typeface="Yu Gothic" pitchFamily="34" charset="-122"/>
              </a:rPr>
              <a:t>が有効なら</a:t>
            </a:r>
            <a:r>
              <a:rPr lang="en-US" altLang="zh-CN" sz="1200" b="1">
                <a:solidFill>
                  <a:srgbClr val="EAF0FF"/>
                </a:solidFill>
                <a:latin typeface="Yu Gothic" pitchFamily="34" charset="0"/>
                <a:ea typeface="Yu Gothic" pitchFamily="34" charset="-122"/>
              </a:rPr>
              <a:t>AccessTokenを発行。</a:t>
            </a:r>
          </a:p>
          <a:p>
            <a:endParaRPr lang="en-US" altLang="zh-CN" sz="1200" b="1">
              <a:solidFill>
                <a:srgbClr val="EAF0FF"/>
              </a:solidFill>
              <a:latin typeface="Yu Gothic" pitchFamily="34" charset="0"/>
              <a:ea typeface="Yu Gothic" pitchFamily="34" charset="-122"/>
              <a:cs typeface="Yu Gothic" pitchFamily="34" charset="-120"/>
            </a:endParaRPr>
          </a:p>
          <a:p>
            <a:pPr marL="0" indent="0">
              <a:buNone/>
            </a:pPr>
            <a:endParaRPr lang="en-US" sz="1200"/>
          </a:p>
        </p:txBody>
      </p:sp>
      <p:sp>
        <p:nvSpPr>
          <p:cNvPr id="12" name="Shape 9"/>
          <p:cNvSpPr/>
          <p:nvPr/>
        </p:nvSpPr>
        <p:spPr>
          <a:xfrm>
            <a:off x="1051560" y="2310615"/>
            <a:ext cx="0" cy="3566160"/>
          </a:xfrm>
          <a:prstGeom prst="line">
            <a:avLst/>
          </a:prstGeom>
          <a:noFill/>
          <a:ln w="12700">
            <a:solidFill>
              <a:srgbClr val="2A3A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0"/>
          <p:cNvSpPr/>
          <p:nvPr/>
        </p:nvSpPr>
        <p:spPr>
          <a:xfrm>
            <a:off x="3246120" y="2310615"/>
            <a:ext cx="0" cy="3566160"/>
          </a:xfrm>
          <a:prstGeom prst="line">
            <a:avLst/>
          </a:prstGeom>
          <a:noFill/>
          <a:ln w="12700">
            <a:solidFill>
              <a:srgbClr val="2A3A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1"/>
          <p:cNvSpPr/>
          <p:nvPr/>
        </p:nvSpPr>
        <p:spPr>
          <a:xfrm>
            <a:off x="5715000" y="2310615"/>
            <a:ext cx="0" cy="3566160"/>
          </a:xfrm>
          <a:prstGeom prst="line">
            <a:avLst/>
          </a:prstGeom>
          <a:noFill/>
          <a:ln w="12700">
            <a:solidFill>
              <a:srgbClr val="2A3A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2"/>
          <p:cNvSpPr/>
          <p:nvPr/>
        </p:nvSpPr>
        <p:spPr>
          <a:xfrm>
            <a:off x="1051560" y="2584935"/>
            <a:ext cx="2194560" cy="0"/>
          </a:xfrm>
          <a:prstGeom prst="line">
            <a:avLst/>
          </a:prstGeom>
          <a:noFill/>
          <a:ln w="25400">
            <a:solidFill>
              <a:srgbClr val="1E66F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990599" y="2363105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B9C6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API呼び出し（AccessToken）</a:t>
            </a:r>
            <a:endParaRPr lang="en-US" sz="1000"/>
          </a:p>
        </p:txBody>
      </p:sp>
      <p:sp>
        <p:nvSpPr>
          <p:cNvPr id="17" name="Shape 14"/>
          <p:cNvSpPr/>
          <p:nvPr/>
        </p:nvSpPr>
        <p:spPr>
          <a:xfrm>
            <a:off x="1051560" y="2950695"/>
            <a:ext cx="2194560" cy="0"/>
          </a:xfrm>
          <a:prstGeom prst="line">
            <a:avLst/>
          </a:prstGeom>
          <a:noFill/>
          <a:ln w="25400">
            <a:solidFill>
              <a:srgbClr val="FFB020"/>
            </a:solidFill>
            <a:prstDash val="solid"/>
            <a:headEnd type="triangl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5"/>
          <p:cNvSpPr/>
          <p:nvPr/>
        </p:nvSpPr>
        <p:spPr>
          <a:xfrm>
            <a:off x="991250" y="2728865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CN" sz="1000">
                <a:solidFill>
                  <a:srgbClr val="B9C6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</a:t>
            </a:r>
            <a:r>
              <a:rPr lang="en-US" sz="1000">
                <a:solidFill>
                  <a:srgbClr val="B9C6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401（TOKEN_EXPIRED）</a:t>
            </a:r>
            <a:endParaRPr lang="en-US" sz="1000"/>
          </a:p>
        </p:txBody>
      </p:sp>
      <p:sp>
        <p:nvSpPr>
          <p:cNvPr id="19" name="Shape 16"/>
          <p:cNvSpPr/>
          <p:nvPr/>
        </p:nvSpPr>
        <p:spPr>
          <a:xfrm>
            <a:off x="1051560" y="3362175"/>
            <a:ext cx="2194560" cy="0"/>
          </a:xfrm>
          <a:prstGeom prst="line">
            <a:avLst/>
          </a:prstGeom>
          <a:noFill/>
          <a:ln w="25400">
            <a:solidFill>
              <a:srgbClr val="39C6E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7"/>
          <p:cNvSpPr/>
          <p:nvPr/>
        </p:nvSpPr>
        <p:spPr>
          <a:xfrm>
            <a:off x="990594" y="3070921"/>
            <a:ext cx="2468873" cy="7501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CN" sz="1000">
                <a:solidFill>
                  <a:srgbClr val="B9C6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</a:t>
            </a:r>
            <a:r>
              <a:rPr lang="en-US" sz="1000">
                <a:solidFill>
                  <a:srgbClr val="B9C6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/auth/refresh</a:t>
            </a:r>
          </a:p>
          <a:p>
            <a:r>
              <a:rPr lang="en-US" sz="1000">
                <a:solidFill>
                  <a:srgbClr val="B9C6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（Request Body:RefreshToken）</a:t>
            </a:r>
          </a:p>
          <a:p>
            <a:r>
              <a:rPr lang="en-US" altLang="zh-CN" sz="1000">
                <a:solidFill>
                  <a:srgbClr val="B9C6E8"/>
                </a:solidFill>
                <a:latin typeface="Yu Gothic" pitchFamily="34" charset="0"/>
                <a:ea typeface="Yu Gothic" pitchFamily="34" charset="-122"/>
              </a:rPr>
              <a:t>isRefreshing</a:t>
            </a:r>
            <a:r>
              <a:rPr lang="zh-CN" altLang="en-US" sz="1000">
                <a:solidFill>
                  <a:srgbClr val="B9C6E8"/>
                </a:solidFill>
                <a:latin typeface="Yu Gothic" pitchFamily="34" charset="0"/>
                <a:ea typeface="Yu Gothic" pitchFamily="34" charset="-122"/>
              </a:rPr>
              <a:t>状態を設定</a:t>
            </a:r>
            <a:r>
              <a:rPr lang="en-US" altLang="zh-CN" sz="1000">
                <a:solidFill>
                  <a:srgbClr val="B9C6E8"/>
                </a:solidFill>
                <a:latin typeface="Yu Gothic" pitchFamily="34" charset="0"/>
                <a:ea typeface="Yu Gothic" pitchFamily="34" charset="-122"/>
              </a:rPr>
              <a:t>で重複refreshを防止</a:t>
            </a:r>
          </a:p>
          <a:p>
            <a:pPr marL="0" indent="0">
              <a:buNone/>
            </a:pPr>
            <a:endParaRPr lang="en-US" sz="1000"/>
          </a:p>
        </p:txBody>
      </p:sp>
      <p:sp>
        <p:nvSpPr>
          <p:cNvPr id="21" name="Shape 18"/>
          <p:cNvSpPr/>
          <p:nvPr/>
        </p:nvSpPr>
        <p:spPr>
          <a:xfrm>
            <a:off x="3246120" y="3773655"/>
            <a:ext cx="2468880" cy="0"/>
          </a:xfrm>
          <a:prstGeom prst="line">
            <a:avLst/>
          </a:prstGeom>
          <a:noFill/>
          <a:ln w="25400">
            <a:solidFill>
              <a:srgbClr val="39C6E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9"/>
          <p:cNvSpPr/>
          <p:nvPr/>
        </p:nvSpPr>
        <p:spPr>
          <a:xfrm>
            <a:off x="3429000" y="3534891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CN" sz="1000">
                <a:solidFill>
                  <a:srgbClr val="B9C6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⑤ </a:t>
            </a:r>
            <a:r>
              <a:rPr lang="en-US" sz="1000">
                <a:solidFill>
                  <a:srgbClr val="B9C6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署名/期限 + 有効性照合(JWT)</a:t>
            </a:r>
            <a:endParaRPr lang="en-US" sz="1000"/>
          </a:p>
        </p:txBody>
      </p:sp>
      <p:sp>
        <p:nvSpPr>
          <p:cNvPr id="23" name="Shape 20"/>
          <p:cNvSpPr/>
          <p:nvPr/>
        </p:nvSpPr>
        <p:spPr>
          <a:xfrm>
            <a:off x="1051560" y="4230855"/>
            <a:ext cx="2194560" cy="0"/>
          </a:xfrm>
          <a:prstGeom prst="line">
            <a:avLst/>
          </a:prstGeom>
          <a:noFill/>
          <a:ln w="25400">
            <a:solidFill>
              <a:srgbClr val="3DDC97"/>
            </a:solidFill>
            <a:prstDash val="solid"/>
            <a:headEnd type="triangl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1"/>
          <p:cNvSpPr/>
          <p:nvPr/>
        </p:nvSpPr>
        <p:spPr>
          <a:xfrm>
            <a:off x="982131" y="410216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CN" sz="1000">
                <a:solidFill>
                  <a:srgbClr val="B9C6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⑥</a:t>
            </a:r>
            <a:r>
              <a:rPr lang="en-US" sz="1000">
                <a:solidFill>
                  <a:srgbClr val="B9C6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新AccessToken（HTTP応答）</a:t>
            </a:r>
          </a:p>
          <a:p>
            <a:pPr marL="0" indent="0">
              <a:buNone/>
            </a:pPr>
            <a:r>
              <a:rPr lang="en-US" sz="1000">
                <a:solidFill>
                  <a:srgbClr val="B9C6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isRefreshing状態を解除</a:t>
            </a:r>
          </a:p>
        </p:txBody>
      </p:sp>
      <p:sp>
        <p:nvSpPr>
          <p:cNvPr id="25" name="Shape 22"/>
          <p:cNvSpPr/>
          <p:nvPr/>
        </p:nvSpPr>
        <p:spPr>
          <a:xfrm>
            <a:off x="1051560" y="4733775"/>
            <a:ext cx="2194560" cy="0"/>
          </a:xfrm>
          <a:prstGeom prst="line">
            <a:avLst/>
          </a:prstGeom>
          <a:noFill/>
          <a:ln w="25400">
            <a:solidFill>
              <a:srgbClr val="1E66F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3"/>
          <p:cNvSpPr/>
          <p:nvPr/>
        </p:nvSpPr>
        <p:spPr>
          <a:xfrm>
            <a:off x="982127" y="4511945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B9C6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⑦</a:t>
            </a:r>
            <a:r>
              <a:rPr lang="ja-JP" altLang="en-US" sz="1000">
                <a:solidFill>
                  <a:srgbClr val="B9C6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</a:t>
            </a:r>
            <a:r>
              <a:rPr lang="en-US" sz="1000">
                <a:solidFill>
                  <a:srgbClr val="B9C6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待機リクエストを再送（新Access）</a:t>
            </a:r>
            <a:endParaRPr lang="en-US" sz="1000"/>
          </a:p>
        </p:txBody>
      </p:sp>
      <p:sp>
        <p:nvSpPr>
          <p:cNvPr id="27" name="Shape 24"/>
          <p:cNvSpPr/>
          <p:nvPr/>
        </p:nvSpPr>
        <p:spPr>
          <a:xfrm>
            <a:off x="7360920" y="1417320"/>
            <a:ext cx="4251960" cy="512064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A3A61"/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5"/>
          <p:cNvSpPr/>
          <p:nvPr/>
        </p:nvSpPr>
        <p:spPr>
          <a:xfrm>
            <a:off x="7527000" y="164709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サーバ側の判定</a:t>
            </a:r>
            <a:endParaRPr lang="en-US" sz="1400"/>
          </a:p>
        </p:txBody>
      </p:sp>
      <p:sp>
        <p:nvSpPr>
          <p:cNvPr id="29" name="Shape 26"/>
          <p:cNvSpPr/>
          <p:nvPr/>
        </p:nvSpPr>
        <p:spPr>
          <a:xfrm>
            <a:off x="7589520" y="1984248"/>
            <a:ext cx="3794760" cy="0"/>
          </a:xfrm>
          <a:prstGeom prst="line">
            <a:avLst/>
          </a:prstGeom>
          <a:noFill/>
          <a:ln w="12700">
            <a:solidFill>
              <a:srgbClr val="2A3A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7"/>
          <p:cNvSpPr/>
          <p:nvPr/>
        </p:nvSpPr>
        <p:spPr>
          <a:xfrm>
            <a:off x="7527000" y="19827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RefreshToken </a:t>
            </a:r>
            <a:r>
              <a:rPr lang="en-US" sz="1200" b="1" err="1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検証ロジック</a:t>
            </a:r>
            <a:endParaRPr lang="en-US" sz="120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0502047"/>
              </p:ext>
            </p:extLst>
          </p:nvPr>
        </p:nvGraphicFramePr>
        <p:xfrm>
          <a:off x="7589520" y="2331720"/>
          <a:ext cx="3840480" cy="1847088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署名/期限NG</a:t>
                      </a:r>
                      <a:endParaRPr lang="en-US" sz="10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401 → logout</a:t>
                      </a:r>
                      <a:endParaRPr lang="en-US" sz="10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ユーザがオンライン</a:t>
                      </a:r>
                      <a:endParaRPr lang="en-US" sz="10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zh-CN" sz="1000" kern="1200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online状況List</a:t>
                      </a:r>
                      <a:r>
                        <a:rPr lang="en-US" sz="1000" kern="1200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で照合 → OKなら発行</a:t>
                      </a:r>
                      <a:endParaRPr lang="en-US" sz="1000" kern="1200">
                        <a:solidFill>
                          <a:srgbClr val="EAF0FF"/>
                        </a:solidFill>
                        <a:latin typeface="Yu Gothic" pitchFamily="34" charset="0"/>
                        <a:ea typeface="Yu Gothic" pitchFamily="34" charset="-122"/>
                        <a:cs typeface="Yu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オフライン &amp; formal</a:t>
                      </a:r>
                      <a:endParaRPr lang="en-US" sz="10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err="1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DBのrefreshTokenと一致</a:t>
                      </a:r>
                      <a:r>
                        <a:rPr lang="en-US" sz="1000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 → OKなら発行</a:t>
                      </a:r>
                      <a:endParaRPr lang="en-US" sz="10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オフライン &amp; guest</a:t>
                      </a:r>
                      <a:endParaRPr lang="en-US" sz="10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US" altLang="zh-CN" sz="1000" kern="1200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</a:rPr>
                        <a:t>Caffeine Cache</a:t>
                      </a:r>
                      <a:r>
                        <a:rPr lang="ja-JP" altLang="en-US" sz="1000" kern="1200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</a:rPr>
                        <a:t>と</a:t>
                      </a:r>
                      <a:r>
                        <a:rPr lang="zh-CN" altLang="en-US" sz="1000" kern="1200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</a:rPr>
                        <a:t>照合</a:t>
                      </a:r>
                      <a:r>
                        <a:rPr lang="en-US" sz="1000" kern="1200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→ OKなら発行</a:t>
                      </a:r>
                      <a:endParaRPr lang="en-US" sz="1000" kern="1200">
                        <a:solidFill>
                          <a:srgbClr val="EAF0FF"/>
                        </a:solidFill>
                        <a:latin typeface="Yu Gothic" pitchFamily="34" charset="0"/>
                        <a:ea typeface="Yu Gothic" pitchFamily="34" charset="-122"/>
                        <a:cs typeface="Yu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US" sz="1000" kern="1200" err="1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  <a:cs typeface="Yu Gothic" charset="0"/>
                        </a:rPr>
                        <a:t>それ以外の状況</a:t>
                      </a:r>
                      <a:endParaRPr lang="en-US" sz="1000" kern="1200">
                        <a:solidFill>
                          <a:srgbClr val="EAF0FF"/>
                        </a:solidFill>
                        <a:latin typeface="Yu Gothic" pitchFamily="34" charset="0"/>
                        <a:ea typeface="Yu Gothic" pitchFamily="34" charset="-122"/>
                        <a:cs typeface="Yu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401 → logout</a:t>
                      </a:r>
                      <a:endParaRPr lang="en-US" altLang="zh-CN" sz="10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0929358"/>
                  </a:ext>
                </a:extLst>
              </a:tr>
            </a:tbl>
          </a:graphicData>
        </a:graphic>
      </p:graphicFrame>
      <p:sp>
        <p:nvSpPr>
          <p:cNvPr id="32" name="Shape 28"/>
          <p:cNvSpPr/>
          <p:nvPr/>
        </p:nvSpPr>
        <p:spPr>
          <a:xfrm>
            <a:off x="7589520" y="4251960"/>
            <a:ext cx="3840480" cy="1234440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A3A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29"/>
          <p:cNvSpPr/>
          <p:nvPr/>
        </p:nvSpPr>
        <p:spPr>
          <a:xfrm>
            <a:off x="7670800" y="4370832"/>
            <a:ext cx="3987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B9C6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フロント実装：single-flight(isRefreshing)</a:t>
            </a:r>
            <a:endParaRPr lang="en-US" sz="1100"/>
          </a:p>
          <a:p>
            <a:r>
              <a:rPr lang="en-US" sz="1100">
                <a:solidFill>
                  <a:srgbClr val="B9C6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・refresh</a:t>
            </a:r>
            <a:r>
              <a:rPr lang="en-US" altLang="zh-CN" sz="1100">
                <a:solidFill>
                  <a:srgbClr val="B9C6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中は新規</a:t>
            </a:r>
            <a:r>
              <a:rPr lang="zh-CN" altLang="en-US" sz="1100">
                <a:solidFill>
                  <a:srgbClr val="B9C6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</a:t>
            </a:r>
            <a:r>
              <a:rPr lang="en-US" altLang="zh-CN" sz="1100">
                <a:solidFill>
                  <a:srgbClr val="B9C6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request</a:t>
            </a:r>
            <a:r>
              <a:rPr lang="zh-CN" altLang="en-US" sz="1100">
                <a:solidFill>
                  <a:srgbClr val="B9C6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</a:t>
            </a:r>
            <a:r>
              <a:rPr lang="en-US" altLang="zh-CN" sz="1100">
                <a:solidFill>
                  <a:srgbClr val="B9C6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/401 response</a:t>
            </a:r>
            <a:r>
              <a:rPr lang="en-US" sz="1100">
                <a:solidFill>
                  <a:srgbClr val="B9C6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を待機</a:t>
            </a:r>
            <a:endParaRPr lang="en-US" sz="1100"/>
          </a:p>
          <a:p>
            <a:r>
              <a:rPr lang="en-US" sz="1100">
                <a:solidFill>
                  <a:srgbClr val="B9C6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</a:t>
            </a:r>
            <a:r>
              <a:rPr lang="en-US" sz="1100" err="1">
                <a:solidFill>
                  <a:srgbClr val="B9C6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成功後に順次リトライ</a:t>
            </a:r>
            <a:r>
              <a:rPr lang="en-US" sz="1100">
                <a:solidFill>
                  <a:srgbClr val="B9C6E8"/>
                </a:solidFill>
                <a:latin typeface="Yu Gothic" pitchFamily="34" charset="0"/>
                <a:ea typeface="Yu Gothic" pitchFamily="34" charset="-122"/>
              </a:rPr>
              <a:t>（</a:t>
            </a:r>
            <a:r>
              <a:rPr lang="en-US" altLang="zh-CN" sz="1100">
                <a:solidFill>
                  <a:srgbClr val="B9C6E8"/>
                </a:solidFill>
                <a:latin typeface="Yu Gothic" pitchFamily="34" charset="0"/>
                <a:ea typeface="Yu Gothic" pitchFamily="34" charset="-122"/>
              </a:rPr>
              <a:t> GET</a:t>
            </a:r>
            <a:r>
              <a:rPr lang="zh-CN" altLang="en-US" sz="1100">
                <a:solidFill>
                  <a:srgbClr val="B9C6E8"/>
                </a:solidFill>
                <a:latin typeface="Yu Gothic" pitchFamily="34" charset="0"/>
                <a:ea typeface="Yu Gothic" pitchFamily="34" charset="-122"/>
              </a:rPr>
              <a:t>等</a:t>
            </a:r>
            <a:r>
              <a:rPr lang="ja-JP" altLang="en-US" sz="1100">
                <a:solidFill>
                  <a:srgbClr val="B9C6E8"/>
                </a:solidFill>
                <a:latin typeface="Yu Gothic" pitchFamily="34" charset="0"/>
                <a:ea typeface="Yu Gothic" pitchFamily="34" charset="-122"/>
              </a:rPr>
              <a:t>の</a:t>
            </a:r>
            <a:r>
              <a:rPr lang="zh-CN" altLang="en-US" sz="1100">
                <a:solidFill>
                  <a:srgbClr val="B9C6E8"/>
                </a:solidFill>
                <a:latin typeface="Yu Gothic" pitchFamily="34" charset="0"/>
                <a:ea typeface="Yu Gothic" pitchFamily="34" charset="-122"/>
              </a:rPr>
              <a:t>参照系</a:t>
            </a:r>
            <a:r>
              <a:rPr lang="ja-JP" altLang="en-US" sz="1100">
                <a:solidFill>
                  <a:srgbClr val="B9C6E8"/>
                </a:solidFill>
                <a:latin typeface="Yu Gothic" pitchFamily="34" charset="0"/>
                <a:ea typeface="Yu Gothic" pitchFamily="34" charset="-122"/>
              </a:rPr>
              <a:t>のみ</a:t>
            </a:r>
            <a:r>
              <a:rPr lang="zh-CN" altLang="en-US" sz="1100">
                <a:solidFill>
                  <a:srgbClr val="B9C6E8"/>
                </a:solidFill>
                <a:latin typeface="Yu Gothic" pitchFamily="34" charset="0"/>
                <a:ea typeface="Yu Gothic" pitchFamily="34" charset="-122"/>
              </a:rPr>
              <a:t>自動</a:t>
            </a:r>
            <a:r>
              <a:rPr lang="ja-JP" altLang="en-US" sz="1100">
                <a:solidFill>
                  <a:srgbClr val="B9C6E8"/>
                </a:solidFill>
                <a:latin typeface="Yu Gothic" pitchFamily="34" charset="0"/>
                <a:ea typeface="Yu Gothic" pitchFamily="34" charset="-122"/>
              </a:rPr>
              <a:t>リトライ。</a:t>
            </a:r>
            <a:r>
              <a:rPr lang="zh-CN" altLang="en-US" sz="1100">
                <a:solidFill>
                  <a:srgbClr val="B9C6E8"/>
                </a:solidFill>
                <a:latin typeface="Yu Gothic" pitchFamily="34" charset="0"/>
                <a:ea typeface="Yu Gothic" pitchFamily="34" charset="-122"/>
              </a:rPr>
              <a:t>更新系</a:t>
            </a:r>
            <a:r>
              <a:rPr lang="ja-JP" altLang="en-US" sz="1100">
                <a:solidFill>
                  <a:srgbClr val="B9C6E8"/>
                </a:solidFill>
                <a:latin typeface="Yu Gothic" pitchFamily="34" charset="0"/>
                <a:ea typeface="Yu Gothic" pitchFamily="34" charset="-122"/>
              </a:rPr>
              <a:t>はエラーを</a:t>
            </a:r>
            <a:r>
              <a:rPr lang="zh-CN" altLang="en-US" sz="1100">
                <a:solidFill>
                  <a:srgbClr val="B9C6E8"/>
                </a:solidFill>
                <a:latin typeface="Yu Gothic" pitchFamily="34" charset="0"/>
                <a:ea typeface="Yu Gothic" pitchFamily="34" charset="-122"/>
              </a:rPr>
              <a:t>通知</a:t>
            </a:r>
            <a:r>
              <a:rPr lang="ja-JP" altLang="en-US" sz="1100">
                <a:solidFill>
                  <a:srgbClr val="B9C6E8"/>
                </a:solidFill>
                <a:latin typeface="Yu Gothic" pitchFamily="34" charset="0"/>
                <a:ea typeface="Yu Gothic" pitchFamily="34" charset="-122"/>
              </a:rPr>
              <a:t>し、ユーザに</a:t>
            </a:r>
            <a:r>
              <a:rPr lang="zh-CN" altLang="en-US" sz="1100">
                <a:solidFill>
                  <a:srgbClr val="B9C6E8"/>
                </a:solidFill>
                <a:latin typeface="Yu Gothic" pitchFamily="34" charset="0"/>
                <a:ea typeface="Yu Gothic" pitchFamily="34" charset="-122"/>
              </a:rPr>
              <a:t>再操作</a:t>
            </a:r>
            <a:r>
              <a:rPr lang="ja-JP" altLang="en-US" sz="1100">
                <a:solidFill>
                  <a:srgbClr val="B9C6E8"/>
                </a:solidFill>
                <a:latin typeface="Yu Gothic" pitchFamily="34" charset="0"/>
                <a:ea typeface="Yu Gothic" pitchFamily="34" charset="-122"/>
              </a:rPr>
              <a:t>を</a:t>
            </a:r>
            <a:r>
              <a:rPr lang="zh-CN" altLang="en-US" sz="1100">
                <a:solidFill>
                  <a:srgbClr val="B9C6E8"/>
                </a:solidFill>
                <a:latin typeface="Yu Gothic" pitchFamily="34" charset="0"/>
                <a:ea typeface="Yu Gothic" pitchFamily="34" charset="-122"/>
              </a:rPr>
              <a:t>促</a:t>
            </a:r>
            <a:r>
              <a:rPr lang="ja-JP" altLang="en-US" sz="1100">
                <a:solidFill>
                  <a:srgbClr val="B9C6E8"/>
                </a:solidFill>
                <a:latin typeface="Yu Gothic" pitchFamily="34" charset="0"/>
                <a:ea typeface="Yu Gothic" pitchFamily="34" charset="-122"/>
              </a:rPr>
              <a:t>す </a:t>
            </a:r>
            <a:r>
              <a:rPr lang="en-US" sz="1100">
                <a:solidFill>
                  <a:srgbClr val="B9C6E8"/>
                </a:solidFill>
                <a:latin typeface="Yu Gothic" pitchFamily="34" charset="0"/>
                <a:ea typeface="Yu Gothic" pitchFamily="34" charset="-122"/>
              </a:rPr>
              <a:t>）</a:t>
            </a:r>
          </a:p>
        </p:txBody>
      </p:sp>
      <p:sp>
        <p:nvSpPr>
          <p:cNvPr id="34" name="Shape 30"/>
          <p:cNvSpPr/>
          <p:nvPr/>
        </p:nvSpPr>
        <p:spPr>
          <a:xfrm>
            <a:off x="640080" y="6565392"/>
            <a:ext cx="10881360" cy="0"/>
          </a:xfrm>
          <a:prstGeom prst="line">
            <a:avLst/>
          </a:prstGeom>
          <a:noFill/>
          <a:ln w="12700">
            <a:solidFill>
              <a:srgbClr val="2A3A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7">
            <a:extLst>
              <a:ext uri="{FF2B5EF4-FFF2-40B4-BE49-F238E27FC236}">
                <a16:creationId xmlns:a16="http://schemas.microsoft.com/office/drawing/2014/main" id="{15603E42-407F-2D95-02E7-A71EA66B86C6}"/>
              </a:ext>
            </a:extLst>
          </p:cNvPr>
          <p:cNvSpPr/>
          <p:nvPr/>
        </p:nvSpPr>
        <p:spPr>
          <a:xfrm>
            <a:off x="5372685" y="199317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Server</a:t>
            </a:r>
            <a:endParaRPr lang="en-US" sz="1200"/>
          </a:p>
        </p:txBody>
      </p:sp>
      <p:sp>
        <p:nvSpPr>
          <p:cNvPr id="38" name="Shape 18">
            <a:extLst>
              <a:ext uri="{FF2B5EF4-FFF2-40B4-BE49-F238E27FC236}">
                <a16:creationId xmlns:a16="http://schemas.microsoft.com/office/drawing/2014/main" id="{57772A29-4A48-A6FD-CAFD-CF1EB7695C49}"/>
              </a:ext>
            </a:extLst>
          </p:cNvPr>
          <p:cNvSpPr/>
          <p:nvPr/>
        </p:nvSpPr>
        <p:spPr>
          <a:xfrm>
            <a:off x="3250029" y="2769380"/>
            <a:ext cx="2468880" cy="0"/>
          </a:xfrm>
          <a:prstGeom prst="line">
            <a:avLst/>
          </a:prstGeom>
          <a:noFill/>
          <a:ln w="25400">
            <a:solidFill>
              <a:srgbClr val="39C6E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19">
            <a:extLst>
              <a:ext uri="{FF2B5EF4-FFF2-40B4-BE49-F238E27FC236}">
                <a16:creationId xmlns:a16="http://schemas.microsoft.com/office/drawing/2014/main" id="{B00F07E9-9BB2-29ED-A266-1B27C996299D}"/>
              </a:ext>
            </a:extLst>
          </p:cNvPr>
          <p:cNvSpPr/>
          <p:nvPr/>
        </p:nvSpPr>
        <p:spPr>
          <a:xfrm>
            <a:off x="3417279" y="254624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CN" sz="1000">
                <a:solidFill>
                  <a:srgbClr val="B9C6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</a:t>
            </a:r>
            <a:r>
              <a:rPr lang="en-US" sz="1000">
                <a:solidFill>
                  <a:srgbClr val="B9C6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署名/期限 + 有効性照合(JWT)</a:t>
            </a:r>
            <a:endParaRPr lang="en-US" sz="1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1730">
              <a:alpha val="85000"/>
            </a:srgbClr>
          </a:solidFill>
          <a:ln w="12700">
            <a:solidFill>
              <a:srgbClr val="0F173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OSS（MinIO/S3）画像パイプライン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B9C6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重複排除（raw/normalized hash）+ 閾値サムネイル + 署名URLで安全に配信</a:t>
            </a:r>
            <a:endParaRPr lang="en-US" sz="1400"/>
          </a:p>
        </p:txBody>
      </p:sp>
      <p:pic>
        <p:nvPicPr>
          <p:cNvPr id="5" name="Image 0" descr="/mnt/data/android-chrome-192x1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228600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17220" y="1329944"/>
            <a:ext cx="7315200" cy="512064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A3A61"/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868680" y="16002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アップロード〜配信（概念フロー）</a:t>
            </a:r>
            <a:endParaRPr lang="en-US" sz="1400"/>
          </a:p>
        </p:txBody>
      </p:sp>
      <p:sp>
        <p:nvSpPr>
          <p:cNvPr id="8" name="Shape 5"/>
          <p:cNvSpPr/>
          <p:nvPr/>
        </p:nvSpPr>
        <p:spPr>
          <a:xfrm>
            <a:off x="868680" y="1924979"/>
            <a:ext cx="6858000" cy="0"/>
          </a:xfrm>
          <a:prstGeom prst="line">
            <a:avLst/>
          </a:prstGeom>
          <a:noFill/>
          <a:ln w="12700">
            <a:solidFill>
              <a:srgbClr val="2A3A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6"/>
          <p:cNvSpPr/>
          <p:nvPr/>
        </p:nvSpPr>
        <p:spPr>
          <a:xfrm>
            <a:off x="960120" y="2011680"/>
            <a:ext cx="3291840" cy="502920"/>
          </a:xfrm>
          <a:prstGeom prst="roundRect">
            <a:avLst/>
          </a:prstGeom>
          <a:solidFill>
            <a:srgbClr val="0F1E3D"/>
          </a:solidFill>
          <a:ln w="12700">
            <a:solidFill>
              <a:srgbClr val="2A3A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972310" y="2084832"/>
            <a:ext cx="296265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1) rawHash(SHA-256) を前計算</a:t>
            </a:r>
            <a:endParaRPr lang="en-US" sz="1100"/>
          </a:p>
        </p:txBody>
      </p:sp>
      <p:sp>
        <p:nvSpPr>
          <p:cNvPr id="11" name="Shape 8"/>
          <p:cNvSpPr/>
          <p:nvPr/>
        </p:nvSpPr>
        <p:spPr>
          <a:xfrm>
            <a:off x="960120" y="2586055"/>
            <a:ext cx="3291840" cy="502920"/>
          </a:xfrm>
          <a:prstGeom prst="roundRect">
            <a:avLst/>
          </a:prstGeom>
          <a:solidFill>
            <a:srgbClr val="0F1E3D"/>
          </a:solidFill>
          <a:ln w="12700">
            <a:solidFill>
              <a:srgbClr val="2A3A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955378" y="2676141"/>
            <a:ext cx="338175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2) HTTP request</a:t>
            </a:r>
            <a:r>
              <a:rPr lang="ja-JP" altLang="en-US" sz="110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</a:t>
            </a:r>
            <a:r>
              <a:rPr lang="en-US" sz="110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/media/check?rawHash=... </a:t>
            </a:r>
          </a:p>
          <a:p>
            <a:r>
              <a:rPr lang="en-US" sz="110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で存在確認、</a:t>
            </a:r>
            <a:r>
              <a:rPr lang="zh-CN" altLang="en-US" sz="1100">
                <a:solidFill>
                  <a:srgbClr val="FF0000"/>
                </a:solidFill>
                <a:latin typeface="Yu Gothic" pitchFamily="34" charset="0"/>
                <a:ea typeface="Yu Gothic" pitchFamily="34" charset="-122"/>
              </a:rPr>
              <a:t>存在時</a:t>
            </a:r>
            <a:r>
              <a:rPr lang="ja-JP" altLang="en-US" sz="1100">
                <a:solidFill>
                  <a:srgbClr val="FF0000"/>
                </a:solidFill>
                <a:latin typeface="Yu Gothic" pitchFamily="34" charset="0"/>
                <a:ea typeface="Yu Gothic" pitchFamily="34" charset="-122"/>
              </a:rPr>
              <a:t>は </a:t>
            </a:r>
            <a:r>
              <a:rPr lang="en-US" altLang="zh-CN" sz="1100">
                <a:solidFill>
                  <a:srgbClr val="FF0000"/>
                </a:solidFill>
                <a:latin typeface="Yu Gothic" pitchFamily="34" charset="0"/>
                <a:ea typeface="Yu Gothic" pitchFamily="34" charset="-122"/>
              </a:rPr>
              <a:t>URL </a:t>
            </a:r>
            <a:r>
              <a:rPr lang="ja-JP" altLang="en-US" sz="1100">
                <a:solidFill>
                  <a:srgbClr val="FF0000"/>
                </a:solidFill>
                <a:latin typeface="Yu Gothic" pitchFamily="34" charset="0"/>
                <a:ea typeface="Yu Gothic" pitchFamily="34" charset="-122"/>
              </a:rPr>
              <a:t>を</a:t>
            </a:r>
            <a:r>
              <a:rPr lang="zh-CN" altLang="en-US" sz="1100">
                <a:solidFill>
                  <a:srgbClr val="FF0000"/>
                </a:solidFill>
                <a:latin typeface="Yu Gothic" pitchFamily="34" charset="0"/>
                <a:ea typeface="Yu Gothic" pitchFamily="34" charset="-122"/>
              </a:rPr>
              <a:t>返却</a:t>
            </a:r>
            <a:endParaRPr lang="en-US" sz="1100">
              <a:solidFill>
                <a:srgbClr val="FF0000"/>
              </a:solidFill>
              <a:latin typeface="Yu Gothic" pitchFamily="34" charset="0"/>
              <a:ea typeface="Yu Gothic" pitchFamily="34" charset="-122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960120" y="3160430"/>
            <a:ext cx="3291840" cy="502920"/>
          </a:xfrm>
          <a:prstGeom prst="roundRect">
            <a:avLst/>
          </a:prstGeom>
          <a:solidFill>
            <a:srgbClr val="0F1E3D"/>
          </a:solidFill>
          <a:ln w="12700">
            <a:solidFill>
              <a:srgbClr val="2A3A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955376" y="3242049"/>
            <a:ext cx="326717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r>
              <a:rPr lang="en-US" sz="1100">
                <a:solidFill>
                  <a:srgbClr val="EAF0FF"/>
                </a:solidFill>
                <a:latin typeface="Yu Gothic" pitchFamily="34" charset="0"/>
                <a:ea typeface="Yu Gothic" pitchFamily="34" charset="-122"/>
              </a:rPr>
              <a:t>) </a:t>
            </a:r>
            <a:r>
              <a:rPr lang="zh-CN" altLang="en-US" sz="1100">
                <a:solidFill>
                  <a:srgbClr val="EAF0FF"/>
                </a:solidFill>
                <a:latin typeface="Yu Gothic" pitchFamily="34" charset="0"/>
                <a:ea typeface="Yu Gothic" pitchFamily="34" charset="-122"/>
              </a:rPr>
              <a:t>未存在</a:t>
            </a:r>
            <a:r>
              <a:rPr lang="ja-JP" altLang="en-US" sz="1100">
                <a:solidFill>
                  <a:srgbClr val="EAF0FF"/>
                </a:solidFill>
                <a:latin typeface="Yu Gothic" pitchFamily="34" charset="0"/>
                <a:ea typeface="Yu Gothic" pitchFamily="34" charset="-122"/>
              </a:rPr>
              <a:t>なら</a:t>
            </a:r>
            <a:r>
              <a:rPr lang="zh-CN" altLang="en-US" sz="1100">
                <a:solidFill>
                  <a:srgbClr val="EAF0FF"/>
                </a:solidFill>
                <a:latin typeface="Yu Gothic" pitchFamily="34" charset="0"/>
                <a:ea typeface="Yu Gothic" pitchFamily="34" charset="-122"/>
              </a:rPr>
              <a:t>圧縮</a:t>
            </a:r>
            <a:r>
              <a:rPr lang="ja-JP" altLang="en-US" sz="1100">
                <a:solidFill>
                  <a:srgbClr val="EAF0FF"/>
                </a:solidFill>
                <a:latin typeface="Yu Gothic" pitchFamily="34" charset="0"/>
                <a:ea typeface="Yu Gothic" pitchFamily="34" charset="-122"/>
              </a:rPr>
              <a:t> </a:t>
            </a:r>
            <a:r>
              <a:rPr lang="en-US" altLang="zh-CN" sz="1100">
                <a:solidFill>
                  <a:srgbClr val="EAF0FF"/>
                </a:solidFill>
                <a:latin typeface="Yu Gothic" pitchFamily="34" charset="0"/>
                <a:ea typeface="Yu Gothic" pitchFamily="34" charset="-122"/>
              </a:rPr>
              <a:t>(.gif</a:t>
            </a:r>
            <a:r>
              <a:rPr lang="ja-JP" altLang="en-US" sz="1100">
                <a:solidFill>
                  <a:srgbClr val="EAF0FF"/>
                </a:solidFill>
                <a:latin typeface="Yu Gothic" pitchFamily="34" charset="0"/>
                <a:ea typeface="Yu Gothic" pitchFamily="34" charset="-122"/>
              </a:rPr>
              <a:t>は</a:t>
            </a:r>
            <a:r>
              <a:rPr lang="zh-CN" altLang="en-US" sz="1100">
                <a:solidFill>
                  <a:srgbClr val="EAF0FF"/>
                </a:solidFill>
                <a:latin typeface="Yu Gothic" pitchFamily="34" charset="0"/>
                <a:ea typeface="Yu Gothic" pitchFamily="34" charset="-122"/>
              </a:rPr>
              <a:t>除外</a:t>
            </a:r>
            <a:r>
              <a:rPr lang="en-US" altLang="zh-CN" sz="1100">
                <a:solidFill>
                  <a:srgbClr val="EAF0FF"/>
                </a:solidFill>
                <a:latin typeface="Yu Gothic" pitchFamily="34" charset="0"/>
                <a:ea typeface="Yu Gothic" pitchFamily="34" charset="-122"/>
              </a:rPr>
              <a:t>) </a:t>
            </a:r>
            <a:r>
              <a:rPr lang="en-US" sz="1100" err="1">
                <a:solidFill>
                  <a:srgbClr val="EAF0FF"/>
                </a:solidFill>
                <a:latin typeface="Yu Gothic" pitchFamily="34" charset="0"/>
                <a:ea typeface="Yu Gothic" pitchFamily="34" charset="-122"/>
              </a:rPr>
              <a:t>してサ</a:t>
            </a:r>
            <a:r>
              <a:rPr lang="en-US" sz="1100" err="1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ーバへ送信</a:t>
            </a:r>
            <a:endParaRPr lang="en-US" sz="1100">
              <a:solidFill>
                <a:srgbClr val="EAF0FF"/>
              </a:solidFill>
              <a:latin typeface="Yu Gothic" pitchFamily="34" charset="0"/>
              <a:ea typeface="Yu Gothic" pitchFamily="34" charset="-122"/>
              <a:cs typeface="Yu Gothic" pitchFamily="34" charset="-12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960120" y="3751746"/>
            <a:ext cx="3291840" cy="502920"/>
          </a:xfrm>
          <a:prstGeom prst="roundRect">
            <a:avLst/>
          </a:prstGeom>
          <a:solidFill>
            <a:srgbClr val="0F1E3D"/>
          </a:solidFill>
          <a:ln w="12700">
            <a:solidFill>
              <a:srgbClr val="2A3A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955375" y="3833367"/>
            <a:ext cx="3140795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4) サーバで正規化（回転/EXIF除去/JPEG化）</a:t>
            </a:r>
            <a:endParaRPr lang="en-US" sz="1100"/>
          </a:p>
        </p:txBody>
      </p:sp>
      <p:sp>
        <p:nvSpPr>
          <p:cNvPr id="17" name="Shape 14"/>
          <p:cNvSpPr/>
          <p:nvPr/>
        </p:nvSpPr>
        <p:spPr>
          <a:xfrm>
            <a:off x="960120" y="4334594"/>
            <a:ext cx="3291840" cy="502920"/>
          </a:xfrm>
          <a:prstGeom prst="roundRect">
            <a:avLst/>
          </a:prstGeom>
          <a:solidFill>
            <a:srgbClr val="0F1E3D"/>
          </a:solidFill>
          <a:ln w="12700">
            <a:solidFill>
              <a:srgbClr val="2A3A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5"/>
          <p:cNvSpPr/>
          <p:nvPr/>
        </p:nvSpPr>
        <p:spPr>
          <a:xfrm>
            <a:off x="955376" y="4424678"/>
            <a:ext cx="312724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5) </a:t>
            </a:r>
            <a:r>
              <a:rPr lang="en-US" sz="1100" err="1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</a:t>
            </a:r>
            <a:r>
              <a:rPr lang="en-US" sz="1100" err="1">
                <a:solidFill>
                  <a:srgbClr val="EAF0FF"/>
                </a:solidFill>
                <a:latin typeface="Yu Gothic" pitchFamily="34" charset="0"/>
                <a:ea typeface="Yu Gothic" pitchFamily="34" charset="-122"/>
              </a:rPr>
              <a:t>バで</a:t>
            </a:r>
            <a:r>
              <a:rPr lang="en-US" altLang="zh-CN" sz="1100">
                <a:solidFill>
                  <a:srgbClr val="EAF0FF"/>
                </a:solidFill>
                <a:latin typeface="Yu Gothic" pitchFamily="34" charset="0"/>
                <a:ea typeface="Yu Gothic" pitchFamily="34" charset="-122"/>
              </a:rPr>
              <a:t> normalizedHash</a:t>
            </a:r>
            <a:r>
              <a:rPr lang="ja-JP" altLang="en-US" sz="1100">
                <a:solidFill>
                  <a:srgbClr val="EAF0FF"/>
                </a:solidFill>
                <a:latin typeface="Yu Gothic" pitchFamily="34" charset="0"/>
                <a:ea typeface="Yu Gothic" pitchFamily="34" charset="-122"/>
              </a:rPr>
              <a:t>を</a:t>
            </a:r>
            <a:r>
              <a:rPr lang="zh-CN" altLang="en-US" sz="1100">
                <a:solidFill>
                  <a:srgbClr val="EAF0FF"/>
                </a:solidFill>
                <a:latin typeface="Yu Gothic" pitchFamily="34" charset="0"/>
                <a:ea typeface="Yu Gothic" pitchFamily="34" charset="-122"/>
              </a:rPr>
              <a:t>計算</a:t>
            </a:r>
            <a:r>
              <a:rPr lang="ja-JP" altLang="en-US" sz="1100">
                <a:solidFill>
                  <a:srgbClr val="EAF0FF"/>
                </a:solidFill>
                <a:latin typeface="Yu Gothic" pitchFamily="34" charset="0"/>
                <a:ea typeface="Yu Gothic" pitchFamily="34" charset="-122"/>
              </a:rPr>
              <a:t>して</a:t>
            </a:r>
            <a:r>
              <a:rPr lang="zh-CN" altLang="en-US" sz="1100">
                <a:solidFill>
                  <a:srgbClr val="EAF0FF"/>
                </a:solidFill>
                <a:latin typeface="Yu Gothic" pitchFamily="34" charset="0"/>
                <a:ea typeface="Yu Gothic" pitchFamily="34" charset="-122"/>
              </a:rPr>
              <a:t>重複排除 </a:t>
            </a:r>
            <a:r>
              <a:rPr lang="en-US" sz="110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、</a:t>
            </a:r>
            <a:r>
              <a:rPr lang="zh-CN" altLang="en-US" sz="1100">
                <a:solidFill>
                  <a:srgbClr val="FF0000"/>
                </a:solidFill>
                <a:latin typeface="Yu Gothic" pitchFamily="34" charset="0"/>
                <a:ea typeface="Yu Gothic" pitchFamily="34" charset="-122"/>
              </a:rPr>
              <a:t>存在時</a:t>
            </a:r>
            <a:r>
              <a:rPr lang="ja-JP" altLang="en-US" sz="1100">
                <a:solidFill>
                  <a:srgbClr val="FF0000"/>
                </a:solidFill>
                <a:latin typeface="Yu Gothic" pitchFamily="34" charset="0"/>
                <a:ea typeface="Yu Gothic" pitchFamily="34" charset="-122"/>
              </a:rPr>
              <a:t>は </a:t>
            </a:r>
            <a:r>
              <a:rPr lang="en-US" altLang="zh-CN" sz="1100">
                <a:solidFill>
                  <a:srgbClr val="FF0000"/>
                </a:solidFill>
                <a:latin typeface="Yu Gothic" pitchFamily="34" charset="0"/>
                <a:ea typeface="Yu Gothic" pitchFamily="34" charset="-122"/>
              </a:rPr>
              <a:t>URL </a:t>
            </a:r>
            <a:r>
              <a:rPr lang="ja-JP" altLang="en-US" sz="1100">
                <a:solidFill>
                  <a:srgbClr val="FF0000"/>
                </a:solidFill>
                <a:latin typeface="Yu Gothic" pitchFamily="34" charset="0"/>
                <a:ea typeface="Yu Gothic" pitchFamily="34" charset="-122"/>
              </a:rPr>
              <a:t>を</a:t>
            </a:r>
            <a:r>
              <a:rPr lang="zh-CN" altLang="en-US" sz="1100">
                <a:solidFill>
                  <a:srgbClr val="FF0000"/>
                </a:solidFill>
                <a:latin typeface="Yu Gothic" pitchFamily="34" charset="0"/>
                <a:ea typeface="Yu Gothic" pitchFamily="34" charset="-122"/>
              </a:rPr>
              <a:t>返却</a:t>
            </a:r>
            <a:endParaRPr lang="en-US" sz="1100">
              <a:solidFill>
                <a:srgbClr val="FF0000"/>
              </a:solidFill>
              <a:latin typeface="Yu Gothic" pitchFamily="34" charset="0"/>
              <a:ea typeface="Yu Gothic" pitchFamily="34" charset="-122"/>
              <a:cs typeface="Yu Gothic" pitchFamily="34" charset="-12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960120" y="4925903"/>
            <a:ext cx="3291840" cy="502920"/>
          </a:xfrm>
          <a:prstGeom prst="roundRect">
            <a:avLst/>
          </a:prstGeom>
          <a:solidFill>
            <a:srgbClr val="0F1E3D"/>
          </a:solidFill>
          <a:ln w="12700">
            <a:solidFill>
              <a:srgbClr val="2A3A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7"/>
          <p:cNvSpPr/>
          <p:nvPr/>
        </p:nvSpPr>
        <p:spPr>
          <a:xfrm>
            <a:off x="955375" y="4999059"/>
            <a:ext cx="3207062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6) 閾値(500px*500px</a:t>
            </a:r>
            <a:r>
              <a:rPr lang="en-US" sz="1100">
                <a:solidFill>
                  <a:srgbClr val="EAF0FF"/>
                </a:solidFill>
                <a:latin typeface="Yu Gothic" pitchFamily="34" charset="0"/>
                <a:ea typeface="Yu Gothic" pitchFamily="34" charset="-122"/>
              </a:rPr>
              <a:t>)</a:t>
            </a:r>
            <a:r>
              <a:rPr lang="zh-CN" altLang="en-US" sz="1100">
                <a:solidFill>
                  <a:srgbClr val="EAF0FF"/>
                </a:solidFill>
                <a:latin typeface="Yu Gothic" pitchFamily="34" charset="0"/>
                <a:ea typeface="Yu Gothic" pitchFamily="34" charset="-122"/>
              </a:rPr>
              <a:t> 超過時</a:t>
            </a:r>
            <a:r>
              <a:rPr lang="ja-JP" altLang="en-US" sz="1100">
                <a:solidFill>
                  <a:srgbClr val="EAF0FF"/>
                </a:solidFill>
                <a:latin typeface="Yu Gothic" pitchFamily="34" charset="0"/>
                <a:ea typeface="Yu Gothic" pitchFamily="34" charset="-122"/>
              </a:rPr>
              <a:t>のみサムネ</a:t>
            </a:r>
            <a:r>
              <a:rPr lang="zh-CN" altLang="en-US" sz="1100">
                <a:solidFill>
                  <a:srgbClr val="EAF0FF"/>
                </a:solidFill>
                <a:latin typeface="Yu Gothic" pitchFamily="34" charset="0"/>
                <a:ea typeface="Yu Gothic" pitchFamily="34" charset="-122"/>
              </a:rPr>
              <a:t>生成</a:t>
            </a:r>
            <a:r>
              <a:rPr lang="en-US" sz="1100">
                <a:solidFill>
                  <a:srgbClr val="EAF0FF"/>
                </a:solidFill>
                <a:latin typeface="Yu Gothic" pitchFamily="34" charset="0"/>
                <a:ea typeface="Yu Gothic" pitchFamily="34" charset="-122"/>
              </a:rPr>
              <a:t>(thumbnailator 0.4.20)・</a:t>
            </a:r>
            <a:r>
              <a:rPr lang="en-US" sz="1100" err="1">
                <a:solidFill>
                  <a:srgbClr val="EAF0FF"/>
                </a:solidFill>
                <a:latin typeface="Yu Gothic" pitchFamily="34" charset="0"/>
                <a:ea typeface="Yu Gothic" pitchFamily="34" charset="-122"/>
              </a:rPr>
              <a:t>アップロ</a:t>
            </a:r>
            <a:r>
              <a:rPr lang="en-US" sz="1100" err="1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ード</a:t>
            </a:r>
            <a:endParaRPr lang="en-US" sz="1100"/>
          </a:p>
        </p:txBody>
      </p:sp>
      <p:sp>
        <p:nvSpPr>
          <p:cNvPr id="21" name="Shape 18"/>
          <p:cNvSpPr/>
          <p:nvPr/>
        </p:nvSpPr>
        <p:spPr>
          <a:xfrm>
            <a:off x="960120" y="5525683"/>
            <a:ext cx="3291840" cy="502920"/>
          </a:xfrm>
          <a:prstGeom prst="roundRect">
            <a:avLst/>
          </a:prstGeom>
          <a:solidFill>
            <a:srgbClr val="0F1E3D"/>
          </a:solidFill>
          <a:ln w="12700">
            <a:solidFill>
              <a:srgbClr val="2A3A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9"/>
          <p:cNvSpPr/>
          <p:nvPr/>
        </p:nvSpPr>
        <p:spPr>
          <a:xfrm>
            <a:off x="955376" y="5615769"/>
            <a:ext cx="296265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7) チャット画像: 署名URLで短期配信</a:t>
            </a:r>
          </a:p>
          <a:p>
            <a:pPr marL="0" indent="0">
              <a:buNone/>
            </a:pPr>
            <a:r>
              <a:rPr lang="en-US" sz="110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フロントエンドへ返信</a:t>
            </a:r>
          </a:p>
        </p:txBody>
      </p:sp>
      <p:sp>
        <p:nvSpPr>
          <p:cNvPr id="23" name="Shape 20"/>
          <p:cNvSpPr/>
          <p:nvPr/>
        </p:nvSpPr>
        <p:spPr>
          <a:xfrm>
            <a:off x="5706532" y="4873752"/>
            <a:ext cx="2122819" cy="1155192"/>
          </a:xfrm>
          <a:prstGeom prst="roundRect">
            <a:avLst/>
          </a:prstGeom>
          <a:solidFill>
            <a:srgbClr val="20303C"/>
          </a:solidFill>
          <a:ln w="12700">
            <a:solidFill>
              <a:srgbClr val="39C6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1"/>
          <p:cNvSpPr/>
          <p:nvPr/>
        </p:nvSpPr>
        <p:spPr>
          <a:xfrm>
            <a:off x="5190601" y="5130293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MinIO / S3</a:t>
            </a:r>
            <a:endParaRPr lang="en-US" sz="1300"/>
          </a:p>
          <a:p>
            <a:pPr marL="0" indent="0" algn="ctr">
              <a:buNone/>
            </a:pPr>
            <a:r>
              <a:rPr lang="en-US" sz="1300" b="1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(Public / Private bucket)</a:t>
            </a:r>
          </a:p>
          <a:p>
            <a:pPr marL="0" indent="0" algn="ctr">
              <a:buNone/>
            </a:pPr>
            <a:r>
              <a:rPr lang="en-US" sz="1300" b="1" err="1">
                <a:solidFill>
                  <a:srgbClr val="EAF0FF"/>
                </a:solidFill>
                <a:latin typeface="Yu Gothic" pitchFamily="34" charset="0"/>
                <a:ea typeface="Yu Gothic" pitchFamily="34" charset="-122"/>
              </a:rPr>
              <a:t>アバターは</a:t>
            </a:r>
            <a:r>
              <a:rPr lang="en-US" sz="1300" b="1">
                <a:solidFill>
                  <a:srgbClr val="EAF0FF"/>
                </a:solidFill>
                <a:latin typeface="Yu Gothic" pitchFamily="34" charset="0"/>
                <a:ea typeface="Yu Gothic" pitchFamily="34" charset="-122"/>
              </a:rPr>
              <a:t> Public</a:t>
            </a:r>
          </a:p>
          <a:p>
            <a:pPr marL="0" indent="0" algn="ctr">
              <a:buNone/>
            </a:pPr>
            <a:r>
              <a:rPr lang="en-US" sz="1300" b="1">
                <a:solidFill>
                  <a:srgbClr val="EAF0FF"/>
                </a:solidFill>
                <a:latin typeface="Yu Gothic" pitchFamily="34" charset="0"/>
                <a:ea typeface="Yu Gothic" pitchFamily="34" charset="-122"/>
              </a:rPr>
              <a:t>チャット画像は Private</a:t>
            </a:r>
          </a:p>
        </p:txBody>
      </p:sp>
      <p:sp>
        <p:nvSpPr>
          <p:cNvPr id="25" name="Shape 22"/>
          <p:cNvSpPr/>
          <p:nvPr/>
        </p:nvSpPr>
        <p:spPr>
          <a:xfrm flipV="1">
            <a:off x="4265506" y="5190229"/>
            <a:ext cx="1441026" cy="19812"/>
          </a:xfrm>
          <a:prstGeom prst="line">
            <a:avLst/>
          </a:prstGeom>
          <a:noFill/>
          <a:ln w="25400">
            <a:solidFill>
              <a:srgbClr val="1E66F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3"/>
          <p:cNvSpPr/>
          <p:nvPr/>
        </p:nvSpPr>
        <p:spPr>
          <a:xfrm>
            <a:off x="4258396" y="5265230"/>
            <a:ext cx="207433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CN" altLang="en-US" sz="90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正規化した</a:t>
            </a:r>
            <a:r>
              <a:rPr lang="en-US" altLang="zh-CN" sz="90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JPEG/GIF</a:t>
            </a:r>
            <a:r>
              <a:rPr lang="zh-CN" altLang="en-US" sz="90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と</a:t>
            </a:r>
            <a:endParaRPr lang="en-US" altLang="zh-CN" sz="900">
              <a:solidFill>
                <a:srgbClr val="EAF0FF"/>
              </a:solidFill>
              <a:latin typeface="Yu Gothic" pitchFamily="34" charset="0"/>
              <a:ea typeface="Yu Gothic" pitchFamily="34" charset="-122"/>
              <a:cs typeface="Yu Gothic" pitchFamily="34" charset="-120"/>
            </a:endParaRPr>
          </a:p>
          <a:p>
            <a:r>
              <a:rPr lang="en-US" altLang="zh-CN" sz="90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サムネ</a:t>
            </a:r>
            <a:r>
              <a:rPr lang="zh-CN" altLang="en-US" sz="90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を</a:t>
            </a:r>
            <a:r>
              <a:rPr lang="en-US" altLang="zh-CN" sz="90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upload</a:t>
            </a:r>
            <a:endParaRPr lang="en-US" sz="900"/>
          </a:p>
        </p:txBody>
      </p:sp>
      <p:sp>
        <p:nvSpPr>
          <p:cNvPr id="27" name="Shape 24"/>
          <p:cNvSpPr/>
          <p:nvPr/>
        </p:nvSpPr>
        <p:spPr>
          <a:xfrm flipH="1">
            <a:off x="4251959" y="5784597"/>
            <a:ext cx="1433094" cy="3555"/>
          </a:xfrm>
          <a:prstGeom prst="line">
            <a:avLst/>
          </a:prstGeom>
          <a:noFill/>
          <a:ln w="25400">
            <a:solidFill>
              <a:srgbClr val="1E66F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7"/>
          <p:cNvSpPr/>
          <p:nvPr/>
        </p:nvSpPr>
        <p:spPr>
          <a:xfrm>
            <a:off x="8138160" y="1417320"/>
            <a:ext cx="3474720" cy="512064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A3A61"/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8"/>
          <p:cNvSpPr/>
          <p:nvPr/>
        </p:nvSpPr>
        <p:spPr>
          <a:xfrm>
            <a:off x="8366760" y="16002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設定パラメータ</a:t>
            </a:r>
            <a:endParaRPr lang="en-US" sz="1400"/>
          </a:p>
        </p:txBody>
      </p:sp>
      <p:sp>
        <p:nvSpPr>
          <p:cNvPr id="32" name="Shape 29"/>
          <p:cNvSpPr/>
          <p:nvPr/>
        </p:nvSpPr>
        <p:spPr>
          <a:xfrm>
            <a:off x="8366760" y="1984248"/>
            <a:ext cx="3017520" cy="0"/>
          </a:xfrm>
          <a:prstGeom prst="line">
            <a:avLst/>
          </a:prstGeom>
          <a:noFill/>
          <a:ln w="12700">
            <a:solidFill>
              <a:srgbClr val="2A3A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0844031"/>
              </p:ext>
            </p:extLst>
          </p:nvPr>
        </p:nvGraphicFramePr>
        <p:xfrm>
          <a:off x="8349826" y="2113284"/>
          <a:ext cx="3125894" cy="1676400"/>
        </p:xfrm>
        <a:graphic>
          <a:graphicData uri="http://schemas.openxmlformats.org/drawingml/2006/table">
            <a:tbl>
              <a:tblPr/>
              <a:tblGrid>
                <a:gridCol w="14682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6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項目</a:t>
                      </a:r>
                      <a:endParaRPr lang="en-US" sz="10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err="1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設定値</a:t>
                      </a:r>
                      <a:endParaRPr lang="en-US" sz="10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最大 upload size</a:t>
                      </a:r>
                      <a:endParaRPr lang="en-US" sz="10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10MB</a:t>
                      </a:r>
                      <a:endParaRPr lang="en-US" sz="10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正規化</a:t>
                      </a:r>
                      <a:endParaRPr lang="en-US" sz="10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回転/EXIF除去/JPEG quality</a:t>
                      </a:r>
                      <a:r>
                        <a:rPr lang="en-US" altLang="zh-CN" sz="1000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=</a:t>
                      </a:r>
                      <a:r>
                        <a:rPr lang="en-US" sz="1000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0.85</a:t>
                      </a:r>
                      <a:endParaRPr lang="en-US" sz="10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最大辺</a:t>
                      </a:r>
                      <a:endParaRPr lang="en-US" sz="10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500px</a:t>
                      </a:r>
                      <a:endParaRPr lang="en-US" sz="10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配信</a:t>
                      </a:r>
                      <a:endParaRPr lang="en-US" sz="10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署名URL（30分 </a:t>
                      </a:r>
                      <a:r>
                        <a:rPr lang="zh-CN" altLang="en-US" sz="1000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設定可</a:t>
                      </a:r>
                      <a:r>
                        <a:rPr lang="en-US" sz="1000">
                          <a:solidFill>
                            <a:srgbClr val="EAF0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）</a:t>
                      </a:r>
                      <a:endParaRPr lang="en-US" sz="100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4" name="Shape 30"/>
          <p:cNvSpPr/>
          <p:nvPr/>
        </p:nvSpPr>
        <p:spPr>
          <a:xfrm>
            <a:off x="8366760" y="4160520"/>
            <a:ext cx="3017520" cy="2103120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A3A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1"/>
          <p:cNvSpPr/>
          <p:nvPr/>
        </p:nvSpPr>
        <p:spPr>
          <a:xfrm>
            <a:off x="8503920" y="4297680"/>
            <a:ext cx="278892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B9C6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狙い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B9C6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・重複排除でストレージ削減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B9C6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・サムネで表示高速化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B9C6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・公開範囲を最小化（署名URL）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B9C6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※値は yml/実行パラメータで変更可</a:t>
            </a:r>
            <a:endParaRPr lang="en-US" sz="1100"/>
          </a:p>
        </p:txBody>
      </p:sp>
      <p:sp>
        <p:nvSpPr>
          <p:cNvPr id="36" name="Shape 32"/>
          <p:cNvSpPr/>
          <p:nvPr/>
        </p:nvSpPr>
        <p:spPr>
          <a:xfrm>
            <a:off x="640080" y="6565392"/>
            <a:ext cx="10881360" cy="0"/>
          </a:xfrm>
          <a:prstGeom prst="line">
            <a:avLst/>
          </a:prstGeom>
          <a:noFill/>
          <a:ln w="12700">
            <a:solidFill>
              <a:srgbClr val="2A3A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3"/>
          <p:cNvSpPr/>
          <p:nvPr/>
        </p:nvSpPr>
        <p:spPr>
          <a:xfrm>
            <a:off x="640080" y="6601968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7F90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OSS：二重ハッシュで重複排除し、チャット画像は署名URLで短期配信。</a:t>
            </a:r>
            <a:endParaRPr lang="en-US" sz="1000"/>
          </a:p>
        </p:txBody>
      </p:sp>
      <p:sp>
        <p:nvSpPr>
          <p:cNvPr id="38" name="Text 23">
            <a:extLst>
              <a:ext uri="{FF2B5EF4-FFF2-40B4-BE49-F238E27FC236}">
                <a16:creationId xmlns:a16="http://schemas.microsoft.com/office/drawing/2014/main" id="{DF9B4F78-7519-FB9B-3AE2-5D5894355003}"/>
              </a:ext>
            </a:extLst>
          </p:cNvPr>
          <p:cNvSpPr/>
          <p:nvPr/>
        </p:nvSpPr>
        <p:spPr>
          <a:xfrm>
            <a:off x="4660902" y="581065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CN" sz="90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URL</a:t>
            </a:r>
            <a:r>
              <a:rPr lang="zh-CN" altLang="en-US" sz="90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生成</a:t>
            </a:r>
            <a:endParaRPr lang="en-US" sz="900"/>
          </a:p>
        </p:txBody>
      </p:sp>
      <p:sp>
        <p:nvSpPr>
          <p:cNvPr id="39" name="Shape 20">
            <a:extLst>
              <a:ext uri="{FF2B5EF4-FFF2-40B4-BE49-F238E27FC236}">
                <a16:creationId xmlns:a16="http://schemas.microsoft.com/office/drawing/2014/main" id="{EF175260-6E78-8C5E-0FD8-BDD8C8BAFB9D}"/>
              </a:ext>
            </a:extLst>
          </p:cNvPr>
          <p:cNvSpPr/>
          <p:nvPr/>
        </p:nvSpPr>
        <p:spPr>
          <a:xfrm>
            <a:off x="5685053" y="3019549"/>
            <a:ext cx="2122819" cy="1155192"/>
          </a:xfrm>
          <a:prstGeom prst="roundRect">
            <a:avLst/>
          </a:prstGeom>
          <a:solidFill>
            <a:srgbClr val="20303C"/>
          </a:solidFill>
          <a:ln w="12700">
            <a:solidFill>
              <a:srgbClr val="39C6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 21">
            <a:extLst>
              <a:ext uri="{FF2B5EF4-FFF2-40B4-BE49-F238E27FC236}">
                <a16:creationId xmlns:a16="http://schemas.microsoft.com/office/drawing/2014/main" id="{E80C5335-2275-75A7-863B-0985EDE0913B}"/>
              </a:ext>
            </a:extLst>
          </p:cNvPr>
          <p:cNvSpPr/>
          <p:nvPr/>
        </p:nvSpPr>
        <p:spPr>
          <a:xfrm>
            <a:off x="5169122" y="3216815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EAF0FF"/>
                </a:solidFill>
                <a:latin typeface="Yu Gothic" pitchFamily="34" charset="0"/>
                <a:ea typeface="Yu Gothic" pitchFamily="34" charset="-122"/>
              </a:rPr>
              <a:t>MySQL</a:t>
            </a:r>
          </a:p>
          <a:p>
            <a:pPr marL="0" indent="0" algn="ctr">
              <a:buNone/>
            </a:pPr>
            <a:r>
              <a:rPr lang="en-US" sz="1300" b="1">
                <a:solidFill>
                  <a:srgbClr val="EAF0FF"/>
                </a:solidFill>
                <a:latin typeface="Yu Gothic" pitchFamily="34" charset="0"/>
                <a:ea typeface="Yu Gothic" pitchFamily="34" charset="-122"/>
              </a:rPr>
              <a:t>assets</a:t>
            </a:r>
            <a:r>
              <a:rPr lang="zh-CN" altLang="en-US" sz="1300" b="1">
                <a:solidFill>
                  <a:srgbClr val="EAF0FF"/>
                </a:solidFill>
                <a:latin typeface="Yu Gothic" pitchFamily="34" charset="0"/>
                <a:ea typeface="Yu Gothic" pitchFamily="34" charset="-122"/>
              </a:rPr>
              <a:t> </a:t>
            </a:r>
            <a:r>
              <a:rPr lang="en-US" altLang="zh-CN" sz="1300" b="1">
                <a:solidFill>
                  <a:srgbClr val="EAF0FF"/>
                </a:solidFill>
                <a:latin typeface="Yu Gothic" pitchFamily="34" charset="0"/>
                <a:ea typeface="Yu Gothic" pitchFamily="34" charset="-122"/>
              </a:rPr>
              <a:t>Table</a:t>
            </a:r>
            <a:endParaRPr lang="en-US" sz="1300"/>
          </a:p>
        </p:txBody>
      </p:sp>
      <p:sp>
        <p:nvSpPr>
          <p:cNvPr id="42" name="Shape 24">
            <a:extLst>
              <a:ext uri="{FF2B5EF4-FFF2-40B4-BE49-F238E27FC236}">
                <a16:creationId xmlns:a16="http://schemas.microsoft.com/office/drawing/2014/main" id="{5990209E-0E8E-D1E8-6DE2-61EAA922231E}"/>
              </a:ext>
            </a:extLst>
          </p:cNvPr>
          <p:cNvSpPr/>
          <p:nvPr/>
        </p:nvSpPr>
        <p:spPr>
          <a:xfrm>
            <a:off x="4265506" y="2815994"/>
            <a:ext cx="1419546" cy="628747"/>
          </a:xfrm>
          <a:prstGeom prst="line">
            <a:avLst/>
          </a:prstGeom>
          <a:noFill/>
          <a:ln w="25400">
            <a:solidFill>
              <a:srgbClr val="1E66F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Text 23">
            <a:extLst>
              <a:ext uri="{FF2B5EF4-FFF2-40B4-BE49-F238E27FC236}">
                <a16:creationId xmlns:a16="http://schemas.microsoft.com/office/drawing/2014/main" id="{C6C796D8-33C3-838C-B169-52C771EE04EB}"/>
              </a:ext>
            </a:extLst>
          </p:cNvPr>
          <p:cNvSpPr/>
          <p:nvPr/>
        </p:nvSpPr>
        <p:spPr>
          <a:xfrm rot="1554220">
            <a:off x="4472093" y="2933353"/>
            <a:ext cx="107994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CN" sz="900">
                <a:solidFill>
                  <a:srgbClr val="EAF0FF"/>
                </a:solidFill>
                <a:latin typeface="Yu Gothic" pitchFamily="34" charset="0"/>
                <a:ea typeface="Yu Gothic" pitchFamily="34" charset="-122"/>
              </a:rPr>
              <a:t>Database </a:t>
            </a:r>
            <a:r>
              <a:rPr lang="ja-JP" altLang="en-US" sz="900">
                <a:solidFill>
                  <a:srgbClr val="EAF0FF"/>
                </a:solidFill>
                <a:latin typeface="Yu Gothic" pitchFamily="34" charset="0"/>
                <a:ea typeface="Yu Gothic" pitchFamily="34" charset="-122"/>
              </a:rPr>
              <a:t>と</a:t>
            </a:r>
            <a:r>
              <a:rPr lang="zh-CN" altLang="en-US" sz="900">
                <a:solidFill>
                  <a:srgbClr val="EAF0FF"/>
                </a:solidFill>
                <a:latin typeface="Yu Gothic" pitchFamily="34" charset="0"/>
                <a:ea typeface="Yu Gothic" pitchFamily="34" charset="-122"/>
              </a:rPr>
              <a:t>照合</a:t>
            </a:r>
            <a:endParaRPr lang="en-US" altLang="zh-CN" sz="900">
              <a:solidFill>
                <a:srgbClr val="EAF0FF"/>
              </a:solidFill>
              <a:latin typeface="Yu Gothic" pitchFamily="34" charset="0"/>
              <a:ea typeface="Yu Gothic" pitchFamily="34" charset="-122"/>
            </a:endParaRPr>
          </a:p>
        </p:txBody>
      </p:sp>
      <p:sp>
        <p:nvSpPr>
          <p:cNvPr id="44" name="Shape 24">
            <a:extLst>
              <a:ext uri="{FF2B5EF4-FFF2-40B4-BE49-F238E27FC236}">
                <a16:creationId xmlns:a16="http://schemas.microsoft.com/office/drawing/2014/main" id="{8411F9C9-38B2-4667-4473-4EB2ED89626E}"/>
              </a:ext>
            </a:extLst>
          </p:cNvPr>
          <p:cNvSpPr/>
          <p:nvPr/>
        </p:nvSpPr>
        <p:spPr>
          <a:xfrm flipV="1">
            <a:off x="4251959" y="3672161"/>
            <a:ext cx="1433093" cy="903400"/>
          </a:xfrm>
          <a:prstGeom prst="line">
            <a:avLst/>
          </a:prstGeom>
          <a:noFill/>
          <a:ln w="25400">
            <a:solidFill>
              <a:srgbClr val="1E66F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Text 23">
            <a:extLst>
              <a:ext uri="{FF2B5EF4-FFF2-40B4-BE49-F238E27FC236}">
                <a16:creationId xmlns:a16="http://schemas.microsoft.com/office/drawing/2014/main" id="{51E6087A-82B3-6394-8F9B-343A6E928054}"/>
              </a:ext>
            </a:extLst>
          </p:cNvPr>
          <p:cNvSpPr/>
          <p:nvPr/>
        </p:nvSpPr>
        <p:spPr>
          <a:xfrm rot="19601953">
            <a:off x="4480560" y="3898043"/>
            <a:ext cx="107994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CN" sz="900">
                <a:solidFill>
                  <a:srgbClr val="EAF0FF"/>
                </a:solidFill>
                <a:latin typeface="Yu Gothic" pitchFamily="34" charset="0"/>
                <a:ea typeface="Yu Gothic" pitchFamily="34" charset="-122"/>
              </a:rPr>
              <a:t>Database </a:t>
            </a:r>
            <a:r>
              <a:rPr lang="ja-JP" altLang="en-US" sz="900">
                <a:solidFill>
                  <a:srgbClr val="EAF0FF"/>
                </a:solidFill>
                <a:latin typeface="Yu Gothic" pitchFamily="34" charset="0"/>
                <a:ea typeface="Yu Gothic" pitchFamily="34" charset="-122"/>
              </a:rPr>
              <a:t>と</a:t>
            </a:r>
            <a:r>
              <a:rPr lang="zh-CN" altLang="en-US" sz="900">
                <a:solidFill>
                  <a:srgbClr val="EAF0FF"/>
                </a:solidFill>
                <a:latin typeface="Yu Gothic" pitchFamily="34" charset="0"/>
                <a:ea typeface="Yu Gothic" pitchFamily="34" charset="-122"/>
              </a:rPr>
              <a:t>照合</a:t>
            </a:r>
            <a:endParaRPr lang="en-US" sz="900">
              <a:solidFill>
                <a:srgbClr val="EAF0FF"/>
              </a:solidFill>
              <a:latin typeface="Yu Gothic" pitchFamily="34" charset="0"/>
              <a:ea typeface="Yu Gothic" pitchFamily="34" charset="-122"/>
            </a:endParaRPr>
          </a:p>
        </p:txBody>
      </p:sp>
      <p:sp>
        <p:nvSpPr>
          <p:cNvPr id="47" name="Shape 24">
            <a:extLst>
              <a:ext uri="{FF2B5EF4-FFF2-40B4-BE49-F238E27FC236}">
                <a16:creationId xmlns:a16="http://schemas.microsoft.com/office/drawing/2014/main" id="{3219D554-54B6-85E8-A2BB-068614E620CF}"/>
              </a:ext>
            </a:extLst>
          </p:cNvPr>
          <p:cNvSpPr/>
          <p:nvPr/>
        </p:nvSpPr>
        <p:spPr>
          <a:xfrm flipV="1">
            <a:off x="4251958" y="4124275"/>
            <a:ext cx="1468120" cy="1078808"/>
          </a:xfrm>
          <a:prstGeom prst="line">
            <a:avLst/>
          </a:prstGeom>
          <a:noFill/>
          <a:ln w="25400">
            <a:solidFill>
              <a:srgbClr val="1E66F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Text 23">
            <a:extLst>
              <a:ext uri="{FF2B5EF4-FFF2-40B4-BE49-F238E27FC236}">
                <a16:creationId xmlns:a16="http://schemas.microsoft.com/office/drawing/2014/main" id="{77AFE68F-85CC-AF62-7698-3782C9FFD0CA}"/>
              </a:ext>
            </a:extLst>
          </p:cNvPr>
          <p:cNvSpPr/>
          <p:nvPr/>
        </p:nvSpPr>
        <p:spPr>
          <a:xfrm rot="19403228">
            <a:off x="4438116" y="4463121"/>
            <a:ext cx="107994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CN" sz="90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Database </a:t>
            </a:r>
            <a:r>
              <a:rPr lang="zh-CN" altLang="en-US" sz="90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に追加</a:t>
            </a:r>
            <a:endParaRPr lang="en-US" sz="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1730">
              <a:alpha val="85000"/>
            </a:srgbClr>
          </a:solidFill>
          <a:ln w="12700">
            <a:solidFill>
              <a:srgbClr val="0F173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まとめ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B9C6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3つの仕組みで「体験・安全・コスト」を同時に改善</a:t>
            </a:r>
            <a:endParaRPr lang="en-US" sz="1400"/>
          </a:p>
        </p:txBody>
      </p:sp>
      <p:pic>
        <p:nvPicPr>
          <p:cNvPr id="5" name="Image 0" descr="/mnt/data/android-chrome-192x1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228600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417320"/>
            <a:ext cx="10972800" cy="512064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A3A61"/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4"/>
          <p:cNvSpPr/>
          <p:nvPr/>
        </p:nvSpPr>
        <p:spPr>
          <a:xfrm>
            <a:off x="914400" y="1920240"/>
            <a:ext cx="2878667" cy="3777827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A3A61"/>
            </a:solidFill>
            <a:prstDash val="solid"/>
          </a:ln>
          <a:effectLst>
            <a:outerShdw blurRad="50800" dist="254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Shape 5"/>
          <p:cNvSpPr/>
          <p:nvPr/>
        </p:nvSpPr>
        <p:spPr>
          <a:xfrm>
            <a:off x="1143000" y="2148840"/>
            <a:ext cx="1463040" cy="320040"/>
          </a:xfrm>
          <a:prstGeom prst="roundRect">
            <a:avLst/>
          </a:prstGeom>
          <a:solidFill>
            <a:srgbClr val="39C6E6"/>
          </a:solidFill>
          <a:ln w="12700">
            <a:solidFill>
              <a:srgbClr val="39C6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1143000" y="216712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WebSocket</a:t>
            </a:r>
            <a:endParaRPr lang="en-US" sz="1100"/>
          </a:p>
        </p:txBody>
      </p:sp>
      <p:sp>
        <p:nvSpPr>
          <p:cNvPr id="10" name="Text 7"/>
          <p:cNvSpPr/>
          <p:nvPr/>
        </p:nvSpPr>
        <p:spPr>
          <a:xfrm>
            <a:off x="1085950" y="2651760"/>
            <a:ext cx="2446606" cy="2578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双方向・低遅延</a:t>
            </a:r>
            <a:endParaRPr lang="en-US" sz="130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ACKで送信確定</a:t>
            </a:r>
            <a:endParaRPr lang="en-US" sz="130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altLang="zh-CN" sz="1300">
                <a:solidFill>
                  <a:srgbClr val="EAF0FF"/>
                </a:solidFill>
                <a:latin typeface="Yu Gothic" pitchFamily="34" charset="0"/>
                <a:ea typeface="Yu Gothic" pitchFamily="34" charset="-122"/>
              </a:rPr>
              <a:t>OFFLINE</a:t>
            </a:r>
            <a:r>
              <a:rPr lang="zh-CN" altLang="en-US" sz="1300">
                <a:solidFill>
                  <a:srgbClr val="EAF0FF"/>
                </a:solidFill>
                <a:latin typeface="Yu Gothic" pitchFamily="34" charset="0"/>
                <a:ea typeface="Yu Gothic" pitchFamily="34" charset="-122"/>
              </a:rPr>
              <a:t>通知</a:t>
            </a:r>
            <a:r>
              <a:rPr lang="ja-JP" altLang="en-US" sz="1300">
                <a:solidFill>
                  <a:srgbClr val="EAF0FF"/>
                </a:solidFill>
                <a:latin typeface="Yu Gothic" pitchFamily="34" charset="0"/>
                <a:ea typeface="Yu Gothic" pitchFamily="34" charset="-122"/>
              </a:rPr>
              <a:t>のデバウンス</a:t>
            </a:r>
            <a:endParaRPr lang="en-US" altLang="zh-CN" sz="1300">
              <a:solidFill>
                <a:srgbClr val="EAF0FF"/>
              </a:solidFill>
              <a:latin typeface="Yu Gothic" pitchFamily="34" charset="0"/>
              <a:ea typeface="Yu Gothic" pitchFamily="34" charset="-122"/>
            </a:endParaRPr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PING/PONGで死活監視</a:t>
            </a:r>
            <a:endParaRPr lang="en-US" sz="1300"/>
          </a:p>
        </p:txBody>
      </p:sp>
      <p:sp>
        <p:nvSpPr>
          <p:cNvPr id="11" name="Shape 8"/>
          <p:cNvSpPr/>
          <p:nvPr/>
        </p:nvSpPr>
        <p:spPr>
          <a:xfrm>
            <a:off x="4343400" y="1920240"/>
            <a:ext cx="2878667" cy="3777827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A3A61"/>
            </a:solidFill>
            <a:prstDash val="solid"/>
          </a:ln>
          <a:effectLst>
            <a:outerShdw blurRad="50800" dist="254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9"/>
          <p:cNvSpPr/>
          <p:nvPr/>
        </p:nvSpPr>
        <p:spPr>
          <a:xfrm>
            <a:off x="4572000" y="2148840"/>
            <a:ext cx="1463040" cy="320040"/>
          </a:xfrm>
          <a:prstGeom prst="round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4572000" y="216712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A12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Dual Token</a:t>
            </a:r>
            <a:endParaRPr lang="en-US" sz="1100"/>
          </a:p>
        </p:txBody>
      </p:sp>
      <p:sp>
        <p:nvSpPr>
          <p:cNvPr id="14" name="Text 11"/>
          <p:cNvSpPr/>
          <p:nvPr/>
        </p:nvSpPr>
        <p:spPr>
          <a:xfrm>
            <a:off x="4465515" y="2776023"/>
            <a:ext cx="2630854" cy="2258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zh-CN" altLang="en-US" sz="1300">
                <a:solidFill>
                  <a:srgbClr val="EAF0FF"/>
                </a:solidFill>
                <a:latin typeface="Yu Gothic" pitchFamily="34" charset="0"/>
                <a:ea typeface="Yu Gothic" pitchFamily="34" charset="-122"/>
              </a:rPr>
              <a:t>短命</a:t>
            </a:r>
            <a:r>
              <a:rPr lang="en-US" altLang="zh-CN" sz="1300">
                <a:solidFill>
                  <a:srgbClr val="EAF0FF"/>
                </a:solidFill>
                <a:latin typeface="Yu Gothic" pitchFamily="34" charset="0"/>
                <a:ea typeface="Yu Gothic" pitchFamily="34" charset="-122"/>
              </a:rPr>
              <a:t>Access / </a:t>
            </a:r>
            <a:r>
              <a:rPr lang="zh-CN" altLang="en-US" sz="1300">
                <a:solidFill>
                  <a:srgbClr val="EAF0FF"/>
                </a:solidFill>
                <a:latin typeface="Yu Gothic" pitchFamily="34" charset="0"/>
                <a:ea typeface="Yu Gothic" pitchFamily="34" charset="-122"/>
              </a:rPr>
              <a:t>長命</a:t>
            </a:r>
            <a:r>
              <a:rPr lang="en-US" altLang="zh-CN" sz="1300">
                <a:solidFill>
                  <a:srgbClr val="EAF0FF"/>
                </a:solidFill>
                <a:latin typeface="Yu Gothic" pitchFamily="34" charset="0"/>
                <a:ea typeface="Yu Gothic" pitchFamily="34" charset="-122"/>
              </a:rPr>
              <a:t>Refresh</a:t>
            </a:r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altLang="zh-CN" sz="1300">
                <a:solidFill>
                  <a:srgbClr val="EAF0FF"/>
                </a:solidFill>
                <a:latin typeface="Yu Gothic" pitchFamily="34" charset="0"/>
                <a:ea typeface="Yu Gothic" pitchFamily="34" charset="-122"/>
              </a:rPr>
              <a:t>isRefreshing Lock </a:t>
            </a:r>
          </a:p>
          <a:p>
            <a:pPr marL="228600" indent="-228600">
              <a:spcAft>
                <a:spcPts val="400"/>
              </a:spcAft>
              <a:buSzPct val="100000"/>
              <a:buFontTx/>
              <a:buChar char="•"/>
            </a:pPr>
            <a:r>
              <a:rPr lang="en-US" altLang="zh-CN" sz="130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401時</a:t>
            </a:r>
            <a:r>
              <a:rPr lang="zh-CN" altLang="en-US" sz="130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は</a:t>
            </a:r>
            <a:r>
              <a:rPr lang="en-US" sz="130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single-flight更新</a:t>
            </a:r>
            <a:endParaRPr lang="en-US" sz="130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err="1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更新後は安全に再送</a:t>
            </a:r>
            <a:endParaRPr lang="en-US" sz="1300"/>
          </a:p>
        </p:txBody>
      </p:sp>
      <p:sp>
        <p:nvSpPr>
          <p:cNvPr id="15" name="Shape 12"/>
          <p:cNvSpPr/>
          <p:nvPr/>
        </p:nvSpPr>
        <p:spPr>
          <a:xfrm>
            <a:off x="7772400" y="1904610"/>
            <a:ext cx="3276600" cy="3777827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A3A61"/>
            </a:solidFill>
            <a:prstDash val="solid"/>
          </a:ln>
          <a:effectLst>
            <a:outerShdw blurRad="50800" dist="254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3"/>
          <p:cNvSpPr/>
          <p:nvPr/>
        </p:nvSpPr>
        <p:spPr>
          <a:xfrm>
            <a:off x="8001000" y="2148840"/>
            <a:ext cx="1463040" cy="320040"/>
          </a:xfrm>
          <a:prstGeom prst="roundRect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4"/>
          <p:cNvSpPr/>
          <p:nvPr/>
        </p:nvSpPr>
        <p:spPr>
          <a:xfrm>
            <a:off x="8001000" y="216712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OSS（MinIO）</a:t>
            </a:r>
            <a:endParaRPr lang="en-US" sz="1100"/>
          </a:p>
        </p:txBody>
      </p:sp>
      <p:sp>
        <p:nvSpPr>
          <p:cNvPr id="18" name="Text 15"/>
          <p:cNvSpPr/>
          <p:nvPr/>
        </p:nvSpPr>
        <p:spPr>
          <a:xfrm>
            <a:off x="7889244" y="2740458"/>
            <a:ext cx="2971800" cy="2291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raw/normalized 重複排除</a:t>
            </a:r>
            <a:endParaRPr lang="en-US" sz="130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閾値サムネで高速表示</a:t>
            </a:r>
            <a:endParaRPr lang="en-US" sz="130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チャット画像は署名URL</a:t>
            </a:r>
            <a:endParaRPr lang="en-US" sz="130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>
                <a:solidFill>
                  <a:srgbClr val="EAF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アバターは公開Readで軽量配信</a:t>
            </a:r>
            <a:endParaRPr lang="en-US" sz="1300"/>
          </a:p>
        </p:txBody>
      </p:sp>
      <p:sp>
        <p:nvSpPr>
          <p:cNvPr id="21" name="Shape 18"/>
          <p:cNvSpPr/>
          <p:nvPr/>
        </p:nvSpPr>
        <p:spPr>
          <a:xfrm>
            <a:off x="640080" y="6565392"/>
            <a:ext cx="10881360" cy="0"/>
          </a:xfrm>
          <a:prstGeom prst="line">
            <a:avLst/>
          </a:prstGeom>
          <a:noFill/>
          <a:ln w="12700">
            <a:solidFill>
              <a:srgbClr val="2A3A6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1444</Words>
  <Application>Microsoft Macintosh PowerPoint</Application>
  <PresentationFormat>宽屏</PresentationFormat>
  <Paragraphs>293</Paragraphs>
  <Slides>10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3" baseType="lpstr">
      <vt:lpstr>Yu Gothic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THPI11A91101 XIAHUANGHAILING</cp:lastModifiedBy>
  <cp:revision>6</cp:revision>
  <dcterms:created xsi:type="dcterms:W3CDTF">2026-01-15T05:49:48Z</dcterms:created>
  <dcterms:modified xsi:type="dcterms:W3CDTF">2026-01-27T17:12:32Z</dcterms:modified>
</cp:coreProperties>
</file>